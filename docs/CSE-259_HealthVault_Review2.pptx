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7" r:id="rId3"/>
    <p:sldId id="269" r:id="rId4"/>
    <p:sldId id="274" r:id="rId5"/>
    <p:sldId id="275" r:id="rId6"/>
    <p:sldId id="273" r:id="rId7"/>
    <p:sldId id="276" r:id="rId8"/>
    <p:sldId id="277" r:id="rId9"/>
    <p:sldId id="278" r:id="rId10"/>
    <p:sldId id="268" r:id="rId11"/>
    <p:sldId id="279" r:id="rId12"/>
    <p:sldId id="280" r:id="rId13"/>
    <p:sldId id="281" r:id="rId14"/>
    <p:sldId id="282" r:id="rId15"/>
    <p:sldId id="283" r:id="rId16"/>
    <p:sldId id="270" r:id="rId17"/>
    <p:sldId id="265" r:id="rId18"/>
    <p:sldId id="284" r:id="rId19"/>
    <p:sldId id="26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mhealth.jmir.org/2015/1/e1/" TargetMode="External"/><Relationship Id="rId2" Type="http://schemas.openxmlformats.org/officeDocument/2006/relationships/hyperlink" Target="https://bmcpublichealth.biomedcentral.com/articles/10.1186/s12889-019-7890-7" TargetMode="External"/><Relationship Id="rId1" Type="http://schemas.openxmlformats.org/officeDocument/2006/relationships/slideLayout" Target="../slideLayouts/slideLayout2.xml"/><Relationship Id="rId6" Type="http://schemas.openxmlformats.org/officeDocument/2006/relationships/hyperlink" Target="https://www.mdpi.com/2227-9032/8/3/257" TargetMode="External"/><Relationship Id="rId5" Type="http://schemas.openxmlformats.org/officeDocument/2006/relationships/hyperlink" Target="https://www.frontiersin.org/articles/10.3389/fpubh.2020.598235/full" TargetMode="External"/><Relationship Id="rId4" Type="http://schemas.openxmlformats.org/officeDocument/2006/relationships/hyperlink" Target="https://mhealth.jmir.org/2017/2/e25/"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2981325" y="1069102"/>
            <a:ext cx="5498973" cy="77028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3200" dirty="0">
                <a:solidFill>
                  <a:srgbClr val="FF0000"/>
                </a:solidFill>
                <a:latin typeface="Cambria" panose="02040503050406030204" pitchFamily="18" charset="0"/>
                <a:ea typeface="Cambria" panose="02040503050406030204" pitchFamily="18" charset="0"/>
              </a:rPr>
              <a:t>HEALTHVAULT</a:t>
            </a:r>
            <a:endParaRPr sz="3200" dirty="0">
              <a:solidFill>
                <a:srgbClr val="FF0000"/>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371368" y="1429060"/>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CSE_259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306332" y="214477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IN" sz="1600" b="1" dirty="0">
                <a:solidFill>
                  <a:schemeClr val="bg2">
                    <a:lumMod val="75000"/>
                  </a:schemeClr>
                </a:solidFill>
              </a:rPr>
              <a:t>Gyanesh Verma</a:t>
            </a:r>
            <a:endParaRPr sz="1600" b="1" dirty="0">
              <a:solidFill>
                <a:schemeClr val="bg2">
                  <a:lumMod val="75000"/>
                </a:schemeClr>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183362070"/>
              </p:ext>
            </p:extLst>
          </p:nvPr>
        </p:nvGraphicFramePr>
        <p:xfrm>
          <a:off x="163036" y="2210958"/>
          <a:ext cx="5418675" cy="2194620"/>
        </p:xfrm>
        <a:graphic>
          <a:graphicData uri="http://schemas.openxmlformats.org/drawingml/2006/table">
            <a:tbl>
              <a:tblPr>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172978">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tc>
                <a:extLst>
                  <a:ext uri="{0D108BD9-81ED-4DB2-BD59-A6C34878D82A}">
                    <a16:rowId xmlns:a16="http://schemas.microsoft.com/office/drawing/2014/main" val="10000"/>
                  </a:ext>
                </a:extLst>
              </a:tr>
              <a:tr h="172978">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tc>
                <a:tc>
                  <a:txBody>
                    <a:bodyPr/>
                    <a:lstStyle/>
                    <a:p>
                      <a:pPr marL="0" marR="0" lvl="0" indent="0" algn="ctr" rtl="0">
                        <a:spcBef>
                          <a:spcPts val="0"/>
                        </a:spcBef>
                        <a:spcAft>
                          <a:spcPts val="0"/>
                        </a:spcAft>
                        <a:buNone/>
                      </a:pPr>
                      <a:endParaRPr sz="1800" u="none" strike="noStrike" cap="none" dirty="0"/>
                    </a:p>
                  </a:txBody>
                  <a:tcPr marL="91450" marR="91450" marT="45725" marB="45725" anchor="ctr"/>
                </a:tc>
                <a:extLst>
                  <a:ext uri="{0D108BD9-81ED-4DB2-BD59-A6C34878D82A}">
                    <a16:rowId xmlns:a16="http://schemas.microsoft.com/office/drawing/2014/main" val="10001"/>
                  </a:ext>
                </a:extLst>
              </a:tr>
              <a:tr h="172978">
                <a:tc>
                  <a:txBody>
                    <a:bodyPr/>
                    <a:lstStyle/>
                    <a:p>
                      <a:pPr marL="0" marR="0" lvl="0" indent="0" algn="ctr" rtl="0">
                        <a:spcBef>
                          <a:spcPts val="0"/>
                        </a:spcBef>
                        <a:spcAft>
                          <a:spcPts val="0"/>
                        </a:spcAft>
                        <a:buNone/>
                      </a:pPr>
                      <a:endParaRPr sz="1800" u="none" strike="noStrike" cap="none" dirty="0"/>
                    </a:p>
                  </a:txBody>
                  <a:tcPr marL="91450" marR="91450" marT="45725" marB="45725" anchor="ctr"/>
                </a:tc>
                <a:tc>
                  <a:txBody>
                    <a:bodyPr/>
                    <a:lstStyle/>
                    <a:p>
                      <a:pPr marL="0" marR="0" lvl="0" indent="0" algn="ctr" rtl="0">
                        <a:spcBef>
                          <a:spcPts val="0"/>
                        </a:spcBef>
                        <a:spcAft>
                          <a:spcPts val="0"/>
                        </a:spcAft>
                        <a:buNone/>
                      </a:pPr>
                      <a:endParaRPr sz="1800" u="none" strike="noStrike" cap="none" dirty="0"/>
                    </a:p>
                  </a:txBody>
                  <a:tcPr marL="91450" marR="91450" marT="45725" marB="45725" anchor="ctr"/>
                </a:tc>
                <a:extLst>
                  <a:ext uri="{0D108BD9-81ED-4DB2-BD59-A6C34878D82A}">
                    <a16:rowId xmlns:a16="http://schemas.microsoft.com/office/drawing/2014/main" val="10002"/>
                  </a:ext>
                </a:extLst>
              </a:tr>
              <a:tr h="172978">
                <a:tc>
                  <a:txBody>
                    <a:bodyPr/>
                    <a:lstStyle/>
                    <a:p>
                      <a:pPr marL="0" marR="0" lvl="0" indent="0" algn="ctr" rtl="0">
                        <a:spcBef>
                          <a:spcPts val="0"/>
                        </a:spcBef>
                        <a:spcAft>
                          <a:spcPts val="0"/>
                        </a:spcAft>
                        <a:buNone/>
                      </a:pPr>
                      <a:endParaRPr sz="1800" u="none" strike="noStrike" cap="none" dirty="0"/>
                    </a:p>
                  </a:txBody>
                  <a:tcPr marL="91450" marR="91450" marT="45725" marB="45725" anchor="ctr"/>
                </a:tc>
                <a:tc>
                  <a:txBody>
                    <a:bodyPr/>
                    <a:lstStyle/>
                    <a:p>
                      <a:pPr marL="0" marR="0" lvl="0" indent="0" algn="ctr" rtl="0">
                        <a:spcBef>
                          <a:spcPts val="0"/>
                        </a:spcBef>
                        <a:spcAft>
                          <a:spcPts val="0"/>
                        </a:spcAft>
                        <a:buNone/>
                      </a:pPr>
                      <a:endParaRPr sz="1800" u="none" strike="noStrike" cap="none" dirty="0"/>
                    </a:p>
                  </a:txBody>
                  <a:tcPr marL="91450" marR="91450" marT="45725" marB="45725" anchor="ctr"/>
                </a:tc>
                <a:extLst>
                  <a:ext uri="{0D108BD9-81ED-4DB2-BD59-A6C34878D82A}">
                    <a16:rowId xmlns:a16="http://schemas.microsoft.com/office/drawing/2014/main" val="10003"/>
                  </a:ext>
                </a:extLst>
              </a:tr>
              <a:tr h="172978">
                <a:tc>
                  <a:txBody>
                    <a:bodyPr/>
                    <a:lstStyle/>
                    <a:p>
                      <a:pPr marL="0" marR="0" lvl="0" indent="0" algn="ctr" rtl="0">
                        <a:spcBef>
                          <a:spcPts val="0"/>
                        </a:spcBef>
                        <a:spcAft>
                          <a:spcPts val="0"/>
                        </a:spcAft>
                        <a:buNone/>
                      </a:pPr>
                      <a:endParaRPr sz="1800" u="none" strike="noStrike" cap="none" dirty="0"/>
                    </a:p>
                  </a:txBody>
                  <a:tcPr marL="91450" marR="91450" marT="45725" marB="45725" anchor="ctr"/>
                </a:tc>
                <a:tc>
                  <a:txBody>
                    <a:bodyPr/>
                    <a:lstStyle/>
                    <a:p>
                      <a:pPr marL="0" marR="0" lvl="0" indent="0" algn="ctr" rtl="0">
                        <a:spcBef>
                          <a:spcPts val="0"/>
                        </a:spcBef>
                        <a:spcAft>
                          <a:spcPts val="0"/>
                        </a:spcAft>
                        <a:buNone/>
                      </a:pPr>
                      <a:endParaRPr sz="1800" u="none" strike="noStrike" cap="none" dirty="0"/>
                    </a:p>
                  </a:txBody>
                  <a:tcPr marL="91450" marR="91450" marT="45725" marB="45725" anchor="ctr"/>
                </a:tc>
                <a:extLst>
                  <a:ext uri="{0D108BD9-81ED-4DB2-BD59-A6C34878D82A}">
                    <a16:rowId xmlns:a16="http://schemas.microsoft.com/office/drawing/2014/main" val="10004"/>
                  </a:ext>
                </a:extLst>
              </a:tr>
              <a:tr h="172978">
                <a:tc>
                  <a:txBody>
                    <a:bodyPr/>
                    <a:lstStyle/>
                    <a:p>
                      <a:pPr marL="0" marR="0" lvl="0" indent="0" algn="ctr" rtl="0">
                        <a:spcBef>
                          <a:spcPts val="0"/>
                        </a:spcBef>
                        <a:spcAft>
                          <a:spcPts val="0"/>
                        </a:spcAft>
                        <a:buNone/>
                      </a:pPr>
                      <a:endParaRPr sz="1800" u="none" strike="noStrike" cap="none" dirty="0"/>
                    </a:p>
                  </a:txBody>
                  <a:tcPr marL="91450" marR="91450" marT="45725" marB="45725" anchor="ctr"/>
                </a:tc>
                <a:tc>
                  <a:txBody>
                    <a:bodyPr/>
                    <a:lstStyle/>
                    <a:p>
                      <a:pPr marL="0" marR="0" lvl="0" indent="0" algn="ctr" rtl="0">
                        <a:spcBef>
                          <a:spcPts val="0"/>
                        </a:spcBef>
                        <a:spcAft>
                          <a:spcPts val="0"/>
                        </a:spcAft>
                        <a:buNone/>
                      </a:pPr>
                      <a:endParaRPr sz="1800" u="none" strike="noStrike" cap="none" dirty="0"/>
                    </a:p>
                  </a:txBody>
                  <a:tcPr marL="91450" marR="91450" marT="45725" marB="45725" anchor="ct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28958" y="4487006"/>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B.TECH - 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Asif Mohammed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a:t>
            </a:r>
            <a:r>
              <a:rPr lang="en-IN" sz="1800" b="1" dirty="0" err="1"/>
              <a:t>Jayavadivel</a:t>
            </a:r>
            <a:r>
              <a:rPr lang="en-IN" sz="1800" b="1" dirty="0"/>
              <a:t> Ravi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F75FAD04-9C5A-0673-BED9-13421A5A2971}"/>
              </a:ext>
            </a:extLst>
          </p:cNvPr>
          <p:cNvGraphicFramePr>
            <a:graphicFrameLocks noGrp="1"/>
          </p:cNvGraphicFramePr>
          <p:nvPr>
            <p:extLst>
              <p:ext uri="{D42A27DB-BD31-4B8C-83A1-F6EECF244321}">
                <p14:modId xmlns:p14="http://schemas.microsoft.com/office/powerpoint/2010/main" val="2064137532"/>
              </p:ext>
            </p:extLst>
          </p:nvPr>
        </p:nvGraphicFramePr>
        <p:xfrm>
          <a:off x="2981325" y="2210960"/>
          <a:ext cx="2619375" cy="2199115"/>
        </p:xfrm>
        <a:graphic>
          <a:graphicData uri="http://schemas.openxmlformats.org/drawingml/2006/table">
            <a:tbl>
              <a:tblPr firstCol="1">
                <a:tableStyleId>{57690726-49DA-4552-BDEB-330DD8EA8BD9}</a:tableStyleId>
              </a:tblPr>
              <a:tblGrid>
                <a:gridCol w="2619375">
                  <a:extLst>
                    <a:ext uri="{9D8B030D-6E8A-4147-A177-3AD203B41FA5}">
                      <a16:colId xmlns:a16="http://schemas.microsoft.com/office/drawing/2014/main" val="855671714"/>
                    </a:ext>
                  </a:extLst>
                </a:gridCol>
              </a:tblGrid>
              <a:tr h="2199115">
                <a:tc>
                  <a:txBody>
                    <a:bodyPr/>
                    <a:lstStyle/>
                    <a:p>
                      <a:endParaRPr lang="en-IN" dirty="0"/>
                    </a:p>
                  </a:txBody>
                  <a:tcPr/>
                </a:tc>
                <a:extLst>
                  <a:ext uri="{0D108BD9-81ED-4DB2-BD59-A6C34878D82A}">
                    <a16:rowId xmlns:a16="http://schemas.microsoft.com/office/drawing/2014/main" val="3896264518"/>
                  </a:ext>
                </a:extLst>
              </a:tr>
            </a:tbl>
          </a:graphicData>
        </a:graphic>
      </p:graphicFrame>
      <p:graphicFrame>
        <p:nvGraphicFramePr>
          <p:cNvPr id="3" name="Table 2">
            <a:extLst>
              <a:ext uri="{FF2B5EF4-FFF2-40B4-BE49-F238E27FC236}">
                <a16:creationId xmlns:a16="http://schemas.microsoft.com/office/drawing/2014/main" id="{31BCB073-7033-665C-13F1-CFDA0C077340}"/>
              </a:ext>
            </a:extLst>
          </p:cNvPr>
          <p:cNvGraphicFramePr>
            <a:graphicFrameLocks noGrp="1"/>
          </p:cNvGraphicFramePr>
          <p:nvPr>
            <p:extLst>
              <p:ext uri="{D42A27DB-BD31-4B8C-83A1-F6EECF244321}">
                <p14:modId xmlns:p14="http://schemas.microsoft.com/office/powerpoint/2010/main" val="1745253114"/>
              </p:ext>
            </p:extLst>
          </p:nvPr>
        </p:nvGraphicFramePr>
        <p:xfrm>
          <a:off x="371368" y="2032000"/>
          <a:ext cx="4524481" cy="2247900"/>
        </p:xfrm>
        <a:graphic>
          <a:graphicData uri="http://schemas.openxmlformats.org/drawingml/2006/table">
            <a:tbl>
              <a:tblPr firstCol="1">
                <a:tableStyleId>{2D5ABB26-0587-4C30-8999-92F81FD0307C}</a:tableStyleId>
              </a:tblPr>
              <a:tblGrid>
                <a:gridCol w="4524481">
                  <a:extLst>
                    <a:ext uri="{9D8B030D-6E8A-4147-A177-3AD203B41FA5}">
                      <a16:colId xmlns:a16="http://schemas.microsoft.com/office/drawing/2014/main" val="2475154969"/>
                    </a:ext>
                  </a:extLst>
                </a:gridCol>
              </a:tblGrid>
              <a:tr h="2247900">
                <a:tc>
                  <a:txBody>
                    <a:bodyPr/>
                    <a:lstStyle/>
                    <a:p>
                      <a:endParaRPr lang="en-US" dirty="0"/>
                    </a:p>
                    <a:p>
                      <a:endParaRPr lang="en-US" dirty="0"/>
                    </a:p>
                    <a:p>
                      <a:endParaRPr lang="en-US" dirty="0"/>
                    </a:p>
                  </a:txBody>
                  <a:tcPr/>
                </a:tc>
                <a:extLst>
                  <a:ext uri="{0D108BD9-81ED-4DB2-BD59-A6C34878D82A}">
                    <a16:rowId xmlns:a16="http://schemas.microsoft.com/office/drawing/2014/main" val="923163658"/>
                  </a:ext>
                </a:extLst>
              </a:tr>
            </a:tbl>
          </a:graphicData>
        </a:graphic>
      </p:graphicFrame>
      <p:graphicFrame>
        <p:nvGraphicFramePr>
          <p:cNvPr id="5" name="Table 4">
            <a:extLst>
              <a:ext uri="{FF2B5EF4-FFF2-40B4-BE49-F238E27FC236}">
                <a16:creationId xmlns:a16="http://schemas.microsoft.com/office/drawing/2014/main" id="{E138B101-6434-DB79-AFC7-BF4A768B17EA}"/>
              </a:ext>
            </a:extLst>
          </p:cNvPr>
          <p:cNvGraphicFramePr>
            <a:graphicFrameLocks noGrp="1"/>
          </p:cNvGraphicFramePr>
          <p:nvPr>
            <p:extLst>
              <p:ext uri="{D42A27DB-BD31-4B8C-83A1-F6EECF244321}">
                <p14:modId xmlns:p14="http://schemas.microsoft.com/office/powerpoint/2010/main" val="1713269651"/>
              </p:ext>
            </p:extLst>
          </p:nvPr>
        </p:nvGraphicFramePr>
        <p:xfrm>
          <a:off x="57840" y="2188466"/>
          <a:ext cx="5548770" cy="1898816"/>
        </p:xfrm>
        <a:graphic>
          <a:graphicData uri="http://schemas.openxmlformats.org/drawingml/2006/table">
            <a:tbl>
              <a:tblPr firstRow="1" bandRow="1"/>
              <a:tblGrid>
                <a:gridCol w="2774385">
                  <a:extLst>
                    <a:ext uri="{9D8B030D-6E8A-4147-A177-3AD203B41FA5}">
                      <a16:colId xmlns:a16="http://schemas.microsoft.com/office/drawing/2014/main" val="1666839359"/>
                    </a:ext>
                  </a:extLst>
                </a:gridCol>
                <a:gridCol w="2774385">
                  <a:extLst>
                    <a:ext uri="{9D8B030D-6E8A-4147-A177-3AD203B41FA5}">
                      <a16:colId xmlns:a16="http://schemas.microsoft.com/office/drawing/2014/main" val="466108493"/>
                    </a:ext>
                  </a:extLst>
                </a:gridCol>
              </a:tblGrid>
              <a:tr h="47470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02105432"/>
                  </a:ext>
                </a:extLst>
              </a:tr>
              <a:tr h="474704">
                <a:tc>
                  <a:txBody>
                    <a:bodyPr/>
                    <a:lstStyle/>
                    <a:p>
                      <a:pPr algn="ctr"/>
                      <a:r>
                        <a:rPr lang="en-US" sz="1600" dirty="0"/>
                        <a:t>20221CSE0691</a:t>
                      </a:r>
                      <a:endParaRPr lang="en-IN" sz="1600" dirty="0"/>
                    </a:p>
                  </a:txBody>
                  <a:tcPr/>
                </a:tc>
                <a:tc>
                  <a:txBody>
                    <a:bodyPr/>
                    <a:lstStyle/>
                    <a:p>
                      <a:pPr algn="ctr"/>
                      <a:r>
                        <a:rPr lang="en-US" sz="1600" dirty="0"/>
                        <a:t>MANOHARA S</a:t>
                      </a:r>
                      <a:endParaRPr lang="en-IN" sz="1600" dirty="0"/>
                    </a:p>
                  </a:txBody>
                  <a:tcPr/>
                </a:tc>
                <a:extLst>
                  <a:ext uri="{0D108BD9-81ED-4DB2-BD59-A6C34878D82A}">
                    <a16:rowId xmlns:a16="http://schemas.microsoft.com/office/drawing/2014/main" val="814059671"/>
                  </a:ext>
                </a:extLst>
              </a:tr>
              <a:tr h="474704">
                <a:tc>
                  <a:txBody>
                    <a:bodyPr/>
                    <a:lstStyle/>
                    <a:p>
                      <a:pPr algn="ctr"/>
                      <a:r>
                        <a:rPr lang="en-US" sz="1600" dirty="0"/>
                        <a:t>20221CSE0729</a:t>
                      </a:r>
                    </a:p>
                  </a:txBody>
                  <a:tcPr/>
                </a:tc>
                <a:tc>
                  <a:txBody>
                    <a:bodyPr/>
                    <a:lstStyle/>
                    <a:p>
                      <a:pPr algn="ctr"/>
                      <a:r>
                        <a:rPr lang="en-US" sz="1600" dirty="0"/>
                        <a:t>VINAY KUMAR J K</a:t>
                      </a:r>
                      <a:endParaRPr lang="en-IN" sz="1600" dirty="0"/>
                    </a:p>
                  </a:txBody>
                  <a:tcPr/>
                </a:tc>
                <a:extLst>
                  <a:ext uri="{0D108BD9-81ED-4DB2-BD59-A6C34878D82A}">
                    <a16:rowId xmlns:a16="http://schemas.microsoft.com/office/drawing/2014/main" val="263342852"/>
                  </a:ext>
                </a:extLst>
              </a:tr>
              <a:tr h="474704">
                <a:tc>
                  <a:txBody>
                    <a:bodyPr/>
                    <a:lstStyle/>
                    <a:p>
                      <a:pPr algn="ctr"/>
                      <a:r>
                        <a:rPr lang="en-US" sz="1600" dirty="0"/>
                        <a:t>20221CSE0683</a:t>
                      </a:r>
                      <a:endParaRPr lang="en-IN" sz="1600" dirty="0"/>
                    </a:p>
                  </a:txBody>
                  <a:tcPr/>
                </a:tc>
                <a:tc>
                  <a:txBody>
                    <a:bodyPr/>
                    <a:lstStyle/>
                    <a:p>
                      <a:pPr algn="ctr"/>
                      <a:r>
                        <a:rPr lang="en-US" sz="1600" dirty="0"/>
                        <a:t>K C DARSHAN</a:t>
                      </a:r>
                      <a:endParaRPr lang="en-IN" sz="1600" dirty="0"/>
                    </a:p>
                  </a:txBody>
                  <a:tcPr/>
                </a:tc>
                <a:extLst>
                  <a:ext uri="{0D108BD9-81ED-4DB2-BD59-A6C34878D82A}">
                    <a16:rowId xmlns:a16="http://schemas.microsoft.com/office/drawing/2014/main" val="283544344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11480" y="978408"/>
            <a:ext cx="10912302" cy="5413247"/>
          </a:xfrm>
          <a:prstGeom prst="rect">
            <a:avLst/>
          </a:prstGeom>
          <a:noFill/>
          <a:ln>
            <a:noFill/>
          </a:ln>
        </p:spPr>
        <p:txBody>
          <a:bodyPr spcFirstLastPara="1" wrap="square" lIns="91425" tIns="45700" rIns="91425" bIns="45700" anchor="t" anchorCtr="0">
            <a:normAutofit fontScale="92500" lnSpcReduction="20000"/>
          </a:bodyPr>
          <a:lstStyle/>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Problem Statement</a:t>
            </a:r>
          </a:p>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Objectives</a:t>
            </a:r>
          </a:p>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Analysis of Problem Statement</a:t>
            </a:r>
          </a:p>
          <a:p>
            <a:pPr marL="495300" lvl="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Innovation or Novel Contributions</a:t>
            </a:r>
          </a:p>
          <a:p>
            <a:pPr marL="495300" lvl="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Literature Survey</a:t>
            </a:r>
          </a:p>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Git-hub Link</a:t>
            </a:r>
          </a:p>
          <a:p>
            <a:pPr marL="495300" indent="-342900" algn="just">
              <a:lnSpc>
                <a:spcPct val="120000"/>
              </a:lnSpc>
              <a:spcBef>
                <a:spcPts val="0"/>
              </a:spcBef>
              <a:buFont typeface="Arial" panose="020B0604020202020204" pitchFamily="34" charset="0"/>
              <a:buChar char="•"/>
            </a:pPr>
            <a:r>
              <a:rPr lang="en-IN" sz="2500" dirty="0">
                <a:latin typeface="Cambria" panose="02040503050406030204" pitchFamily="18" charset="0"/>
                <a:ea typeface="Cambria" panose="02040503050406030204" pitchFamily="18" charset="0"/>
              </a:rPr>
              <a:t>Existing Methods &amp; Drawbacks</a:t>
            </a:r>
          </a:p>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Proposed Methods &amp; Feasibility Study</a:t>
            </a:r>
          </a:p>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Modules</a:t>
            </a:r>
          </a:p>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Hardware and Software Details</a:t>
            </a:r>
          </a:p>
          <a:p>
            <a:pPr marL="495300" indent="-342900" algn="just">
              <a:lnSpc>
                <a:spcPct val="120000"/>
              </a:lnSpc>
              <a:spcBef>
                <a:spcPts val="0"/>
              </a:spcBef>
              <a:buFont typeface="Arial" panose="020B0604020202020204" pitchFamily="34" charset="0"/>
              <a:buChar char="•"/>
            </a:pPr>
            <a:r>
              <a:rPr lang="en-US" sz="2500" dirty="0">
                <a:latin typeface="Cambria" panose="02040503050406030204" pitchFamily="18" charset="0"/>
                <a:ea typeface="Cambria" panose="02040503050406030204" pitchFamily="18" charset="0"/>
              </a:rPr>
              <a:t>Architecture Diagram</a:t>
            </a:r>
          </a:p>
          <a:p>
            <a:pPr marL="495300" lvl="0" indent="-342900" algn="just" rtl="0">
              <a:lnSpc>
                <a:spcPct val="120000"/>
              </a:lnSpc>
              <a:spcBef>
                <a:spcPts val="0"/>
              </a:spcBef>
              <a:spcAft>
                <a:spcPts val="0"/>
              </a:spcAft>
              <a:buClr>
                <a:schemeClr val="dk1"/>
              </a:buClr>
              <a:buSzPts val="2400"/>
              <a:buFont typeface="Arial" panose="020B0604020202020204" pitchFamily="34" charset="0"/>
              <a:buChar char="•"/>
            </a:pPr>
            <a:r>
              <a:rPr lang="en-US" sz="2500" dirty="0">
                <a:latin typeface="Cambria" panose="02040503050406030204" pitchFamily="18" charset="0"/>
                <a:ea typeface="Cambria" panose="02040503050406030204" pitchFamily="18" charset="0"/>
              </a:rPr>
              <a:t>Timeline of the Project</a:t>
            </a:r>
          </a:p>
          <a:p>
            <a:pPr marL="495300" lvl="0" indent="-342900" algn="just" rtl="0">
              <a:lnSpc>
                <a:spcPct val="120000"/>
              </a:lnSpc>
              <a:spcBef>
                <a:spcPts val="0"/>
              </a:spcBef>
              <a:spcAft>
                <a:spcPts val="0"/>
              </a:spcAft>
              <a:buClr>
                <a:schemeClr val="dk1"/>
              </a:buClr>
              <a:buSzPts val="2400"/>
              <a:buFont typeface="Arial" panose="020B0604020202020204" pitchFamily="34" charset="0"/>
              <a:buChar char="•"/>
            </a:pPr>
            <a:r>
              <a:rPr lang="en-US" sz="2500" dirty="0">
                <a:latin typeface="Cambria" panose="02040503050406030204" pitchFamily="18" charset="0"/>
                <a:ea typeface="Cambria" panose="02040503050406030204" pitchFamily="18" charset="0"/>
              </a:rPr>
              <a:t>References</a:t>
            </a:r>
          </a:p>
          <a:p>
            <a:pPr marL="495300" lvl="0" indent="-342900" algn="just" rtl="0">
              <a:lnSpc>
                <a:spcPct val="12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12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12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PSCS_486</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 Null </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Software</a:t>
            </a:r>
          </a:p>
          <a:p>
            <a:pPr marL="342900" lvl="0" indent="-190500">
              <a:lnSpc>
                <a:spcPct val="200000"/>
              </a:lnSpc>
              <a:spcBef>
                <a:spcPts val="0"/>
              </a:spcBef>
              <a:buNone/>
            </a:pPr>
            <a:r>
              <a:rPr lang="en-US" dirty="0">
                <a:latin typeface="Cambria" panose="02040503050406030204" pitchFamily="18" charset="0"/>
                <a:ea typeface="Cambria" panose="02040503050406030204" pitchFamily="18" charset="0"/>
              </a:rPr>
              <a:t>Problem Description: Automatic Health Monitoring System: In present days, the patients belonging to rural and sub-urban communities do not maintain the diagnosis reports for which they frequently go for regular checkups wasting their valuable money. Thus, an automatic report maintaining system is to be developed to avoid </a:t>
            </a:r>
            <a:r>
              <a:rPr lang="en-US" dirty="0" err="1">
                <a:latin typeface="Cambria" panose="02040503050406030204" pitchFamily="18" charset="0"/>
                <a:ea typeface="Cambria" panose="02040503050406030204" pitchFamily="18" charset="0"/>
              </a:rPr>
              <a:t>repetative</a:t>
            </a:r>
            <a:r>
              <a:rPr lang="en-US" dirty="0">
                <a:latin typeface="Cambria" panose="02040503050406030204" pitchFamily="18" charset="0"/>
                <a:ea typeface="Cambria" panose="02040503050406030204" pitchFamily="18" charset="0"/>
              </a:rPr>
              <a:t> diagnosing of the patients.</a:t>
            </a: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altLang="en-US" sz="1800" dirty="0">
                <a:solidFill>
                  <a:schemeClr val="tx1"/>
                </a:solidFill>
                <a:latin typeface="Arial" panose="020B0604020202020204" pitchFamily="34" charset="0"/>
              </a:rPr>
              <a:t>Create a </a:t>
            </a:r>
            <a:r>
              <a:rPr lang="en-US" altLang="en-US" sz="1800" b="1" dirty="0">
                <a:solidFill>
                  <a:schemeClr val="tx1"/>
                </a:solidFill>
                <a:latin typeface="Arial" panose="020B0604020202020204" pitchFamily="34" charset="0"/>
              </a:rPr>
              <a:t>cross-platform mobile app</a:t>
            </a:r>
            <a:r>
              <a:rPr lang="en-US" altLang="en-US" sz="1800" dirty="0">
                <a:solidFill>
                  <a:schemeClr val="tx1"/>
                </a:solidFill>
                <a:latin typeface="Arial" panose="020B0604020202020204" pitchFamily="34" charset="0"/>
              </a:rPr>
              <a:t> using React Native.</a:t>
            </a:r>
          </a:p>
          <a:p>
            <a:pPr marL="495300" indent="-342900" algn="just">
              <a:lnSpc>
                <a:spcPct val="200000"/>
              </a:lnSpc>
              <a:spcBef>
                <a:spcPts val="0"/>
              </a:spcBef>
              <a:buFont typeface="Arial" panose="020B0604020202020204" pitchFamily="34" charset="0"/>
              <a:buChar char="•"/>
            </a:pPr>
            <a:r>
              <a:rPr lang="en-US" altLang="en-US" sz="1800" dirty="0">
                <a:solidFill>
                  <a:schemeClr val="tx1"/>
                </a:solidFill>
                <a:latin typeface="Arial" panose="020B0604020202020204" pitchFamily="34" charset="0"/>
              </a:rPr>
              <a:t>Implement </a:t>
            </a:r>
            <a:r>
              <a:rPr lang="en-US" altLang="en-US" sz="1800" b="1" dirty="0">
                <a:solidFill>
                  <a:schemeClr val="tx1"/>
                </a:solidFill>
                <a:latin typeface="Arial" panose="020B0604020202020204" pitchFamily="34" charset="0"/>
              </a:rPr>
              <a:t>multi-profile management</a:t>
            </a:r>
            <a:r>
              <a:rPr lang="en-US" altLang="en-US" sz="1800" dirty="0">
                <a:solidFill>
                  <a:schemeClr val="tx1"/>
                </a:solidFill>
                <a:latin typeface="Arial" panose="020B0604020202020204" pitchFamily="34" charset="0"/>
              </a:rPr>
              <a:t> in a single account.</a:t>
            </a:r>
          </a:p>
          <a:p>
            <a:pPr marL="495300" indent="-342900" algn="just">
              <a:lnSpc>
                <a:spcPct val="200000"/>
              </a:lnSpc>
              <a:spcBef>
                <a:spcPts val="0"/>
              </a:spcBef>
              <a:buFont typeface="Arial" panose="020B0604020202020204" pitchFamily="34" charset="0"/>
              <a:buChar char="•"/>
            </a:pPr>
            <a:r>
              <a:rPr lang="en-US" altLang="en-US" sz="1800" dirty="0">
                <a:solidFill>
                  <a:schemeClr val="tx1"/>
                </a:solidFill>
                <a:latin typeface="Arial" panose="020B0604020202020204" pitchFamily="34" charset="0"/>
              </a:rPr>
              <a:t>Enable </a:t>
            </a:r>
            <a:r>
              <a:rPr lang="en-US" altLang="en-US" sz="1800" b="1" dirty="0">
                <a:solidFill>
                  <a:schemeClr val="tx1"/>
                </a:solidFill>
                <a:latin typeface="Arial" panose="020B0604020202020204" pitchFamily="34" charset="0"/>
              </a:rPr>
              <a:t>offline-first data storage</a:t>
            </a:r>
            <a:r>
              <a:rPr lang="en-US" altLang="en-US" sz="1800" dirty="0">
                <a:solidFill>
                  <a:schemeClr val="tx1"/>
                </a:solidFill>
                <a:latin typeface="Arial" panose="020B0604020202020204" pitchFamily="34" charset="0"/>
              </a:rPr>
              <a:t> with automatic cloud synchronization.</a:t>
            </a:r>
          </a:p>
          <a:p>
            <a:pPr marL="495300" indent="-342900" algn="just">
              <a:lnSpc>
                <a:spcPct val="200000"/>
              </a:lnSpc>
              <a:spcBef>
                <a:spcPts val="0"/>
              </a:spcBef>
              <a:buFont typeface="Arial" panose="020B0604020202020204" pitchFamily="34" charset="0"/>
              <a:buChar char="•"/>
            </a:pPr>
            <a:r>
              <a:rPr lang="en-US" altLang="en-US" sz="1800" dirty="0">
                <a:solidFill>
                  <a:schemeClr val="tx1"/>
                </a:solidFill>
                <a:latin typeface="Arial" panose="020B0604020202020204" pitchFamily="34" charset="0"/>
              </a:rPr>
              <a:t>Provide </a:t>
            </a:r>
            <a:r>
              <a:rPr lang="en-US" altLang="en-US" sz="1800" b="1" dirty="0">
                <a:solidFill>
                  <a:schemeClr val="tx1"/>
                </a:solidFill>
                <a:latin typeface="Arial" panose="020B0604020202020204" pitchFamily="34" charset="0"/>
              </a:rPr>
              <a:t>secure digital storage</a:t>
            </a:r>
            <a:r>
              <a:rPr lang="en-US" altLang="en-US" sz="1800" dirty="0">
                <a:solidFill>
                  <a:schemeClr val="tx1"/>
                </a:solidFill>
                <a:latin typeface="Arial" panose="020B0604020202020204" pitchFamily="34" charset="0"/>
              </a:rPr>
              <a:t> for health documents and reports.</a:t>
            </a:r>
          </a:p>
          <a:p>
            <a:pPr marL="495300" indent="-342900" algn="just">
              <a:lnSpc>
                <a:spcPct val="200000"/>
              </a:lnSpc>
              <a:spcBef>
                <a:spcPts val="0"/>
              </a:spcBef>
              <a:buFont typeface="Arial" panose="020B0604020202020204" pitchFamily="34" charset="0"/>
              <a:buChar char="•"/>
            </a:pPr>
            <a:r>
              <a:rPr lang="en-US" altLang="en-US" sz="1800" dirty="0">
                <a:solidFill>
                  <a:schemeClr val="tx1"/>
                </a:solidFill>
                <a:latin typeface="Arial" panose="020B0604020202020204" pitchFamily="34" charset="0"/>
              </a:rPr>
              <a:t>Integrate </a:t>
            </a:r>
            <a:r>
              <a:rPr lang="en-US" altLang="en-US" sz="1800" b="1" dirty="0">
                <a:solidFill>
                  <a:schemeClr val="tx1"/>
                </a:solidFill>
                <a:latin typeface="Arial" panose="020B0604020202020204" pitchFamily="34" charset="0"/>
              </a:rPr>
              <a:t>push notifications</a:t>
            </a:r>
            <a:r>
              <a:rPr lang="en-US" altLang="en-US" sz="1800" dirty="0">
                <a:solidFill>
                  <a:schemeClr val="tx1"/>
                </a:solidFill>
                <a:latin typeface="Arial" panose="020B0604020202020204" pitchFamily="34" charset="0"/>
              </a:rPr>
              <a:t> for medical reminders and checkups.</a:t>
            </a:r>
          </a:p>
          <a:p>
            <a:pPr marL="495300" indent="-342900" algn="just">
              <a:lnSpc>
                <a:spcPct val="200000"/>
              </a:lnSpc>
              <a:spcBef>
                <a:spcPts val="0"/>
              </a:spcBef>
              <a:buFont typeface="Arial" panose="020B0604020202020204" pitchFamily="34" charset="0"/>
              <a:buChar char="•"/>
            </a:pPr>
            <a:r>
              <a:rPr lang="en-US" altLang="en-US" sz="1800" dirty="0">
                <a:solidFill>
                  <a:schemeClr val="tx1"/>
                </a:solidFill>
                <a:latin typeface="Arial" panose="020B0604020202020204" pitchFamily="34" charset="0"/>
              </a:rPr>
              <a:t>Design an </a:t>
            </a:r>
            <a:r>
              <a:rPr lang="en-US" altLang="en-US" sz="1800" b="1" dirty="0">
                <a:solidFill>
                  <a:schemeClr val="tx1"/>
                </a:solidFill>
                <a:latin typeface="Arial" panose="020B0604020202020204" pitchFamily="34" charset="0"/>
              </a:rPr>
              <a:t>icon-driven, elder-friendly interface</a:t>
            </a:r>
            <a:r>
              <a:rPr lang="en-US" altLang="en-US" sz="1800" dirty="0">
                <a:solidFill>
                  <a:schemeClr val="tx1"/>
                </a:solidFill>
                <a:latin typeface="Arial" panose="020B0604020202020204" pitchFamily="34" charset="0"/>
              </a:rPr>
              <a: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92D6-38A1-8C81-366F-63C5F75129F0}"/>
              </a:ext>
            </a:extLst>
          </p:cNvPr>
          <p:cNvSpPr>
            <a:spLocks noGrp="1"/>
          </p:cNvSpPr>
          <p:nvPr>
            <p:ph type="title"/>
          </p:nvPr>
        </p:nvSpPr>
        <p:spPr>
          <a:xfrm>
            <a:off x="711200" y="655501"/>
            <a:ext cx="10668000" cy="487500"/>
          </a:xfrm>
        </p:spPr>
        <p:txBody>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E41BEACE-EDEA-0B5C-FF49-5EAA1C3FB061}"/>
              </a:ext>
            </a:extLst>
          </p:cNvPr>
          <p:cNvSpPr>
            <a:spLocks noGrp="1"/>
          </p:cNvSpPr>
          <p:nvPr>
            <p:ph type="body" idx="1"/>
          </p:nvPr>
        </p:nvSpPr>
        <p:spPr/>
        <p:txBody>
          <a:bodyPr/>
          <a:lstStyle/>
          <a:p>
            <a:r>
              <a:rPr lang="en-US" sz="2000" b="1" dirty="0">
                <a:latin typeface="Cambria" panose="02040503050406030204" pitchFamily="18" charset="0"/>
                <a:ea typeface="Cambria" panose="02040503050406030204" pitchFamily="18" charset="0"/>
              </a:rPr>
              <a:t>Existing Solutions:</a:t>
            </a:r>
            <a:endParaRPr lang="en-US" sz="2000" dirty="0">
              <a:latin typeface="Cambria" panose="02040503050406030204" pitchFamily="18" charset="0"/>
              <a:ea typeface="Cambria" panose="02040503050406030204" pitchFamily="18" charset="0"/>
            </a:endParaRPr>
          </a:p>
          <a:p>
            <a:pPr lvl="1"/>
            <a:r>
              <a:rPr lang="en-US" i="1" dirty="0" err="1">
                <a:latin typeface="Cambria" panose="02040503050406030204" pitchFamily="18" charset="0"/>
                <a:ea typeface="Cambria" panose="02040503050406030204" pitchFamily="18" charset="0"/>
              </a:rPr>
              <a:t>Practo</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mFine</a:t>
            </a:r>
            <a:r>
              <a:rPr lang="en-US" dirty="0">
                <a:latin typeface="Cambria" panose="02040503050406030204" pitchFamily="18" charset="0"/>
                <a:ea typeface="Cambria" panose="02040503050406030204" pitchFamily="18" charset="0"/>
              </a:rPr>
              <a:t> → urban-focused, limited offline support.</a:t>
            </a:r>
          </a:p>
          <a:p>
            <a:pPr lvl="1"/>
            <a:r>
              <a:rPr lang="en-US" i="1" dirty="0">
                <a:latin typeface="Cambria" panose="02040503050406030204" pitchFamily="18" charset="0"/>
                <a:ea typeface="Cambria" panose="02040503050406030204" pitchFamily="18" charset="0"/>
              </a:rPr>
              <a:t>WHO mHealth Guidelines</a:t>
            </a:r>
            <a:r>
              <a:rPr lang="en-US" dirty="0">
                <a:latin typeface="Cambria" panose="02040503050406030204" pitchFamily="18" charset="0"/>
                <a:ea typeface="Cambria" panose="02040503050406030204" pitchFamily="18" charset="0"/>
              </a:rPr>
              <a:t> → recommend low-literacy, offline-friendly design.</a:t>
            </a:r>
          </a:p>
          <a:p>
            <a:pPr lvl="1"/>
            <a:r>
              <a:rPr lang="en-US" i="1" dirty="0">
                <a:latin typeface="Cambria" panose="02040503050406030204" pitchFamily="18" charset="0"/>
                <a:ea typeface="Cambria" panose="02040503050406030204" pitchFamily="18" charset="0"/>
              </a:rPr>
              <a:t>iCare (IEEE 2010)</a:t>
            </a:r>
            <a:r>
              <a:rPr lang="en-US" dirty="0">
                <a:latin typeface="Cambria" panose="02040503050406030204" pitchFamily="18" charset="0"/>
                <a:ea typeface="Cambria" panose="02040503050406030204" pitchFamily="18" charset="0"/>
              </a:rPr>
              <a:t> → elderly health monitoring, but lacks multi-profile capability.</a:t>
            </a:r>
          </a:p>
          <a:p>
            <a:pPr lvl="1"/>
            <a:r>
              <a:rPr lang="en-US" i="1" dirty="0">
                <a:latin typeface="Cambria" panose="02040503050406030204" pitchFamily="18" charset="0"/>
                <a:ea typeface="Cambria" panose="02040503050406030204" pitchFamily="18" charset="0"/>
              </a:rPr>
              <a:t>Opportunistic mHealth Architecture (</a:t>
            </a:r>
            <a:r>
              <a:rPr lang="en-US" i="1" dirty="0" err="1">
                <a:latin typeface="Cambria" panose="02040503050406030204" pitchFamily="18" charset="0"/>
                <a:ea typeface="Cambria" panose="02040503050406030204" pitchFamily="18" charset="0"/>
              </a:rPr>
              <a:t>HotMobile</a:t>
            </a:r>
            <a:r>
              <a:rPr lang="en-US" i="1" dirty="0">
                <a:latin typeface="Cambria" panose="02040503050406030204" pitchFamily="18" charset="0"/>
                <a:ea typeface="Cambria" panose="02040503050406030204" pitchFamily="18" charset="0"/>
              </a:rPr>
              <a:t> ’19)</a:t>
            </a:r>
            <a:r>
              <a:rPr lang="en-US" dirty="0">
                <a:latin typeface="Cambria" panose="02040503050406030204" pitchFamily="18" charset="0"/>
                <a:ea typeface="Cambria" panose="02040503050406030204" pitchFamily="18" charset="0"/>
              </a:rPr>
              <a:t> → focuses on intermittent connectivity, but not family-based record management.</a:t>
            </a:r>
          </a:p>
          <a:p>
            <a:r>
              <a:rPr lang="en-US" sz="2000" b="1" dirty="0">
                <a:latin typeface="Cambria" panose="02040503050406030204" pitchFamily="18" charset="0"/>
                <a:ea typeface="Cambria" panose="02040503050406030204" pitchFamily="18" charset="0"/>
              </a:rPr>
              <a:t>Gap Identified:</a:t>
            </a:r>
            <a:r>
              <a:rPr lang="en-US" sz="2000" dirty="0">
                <a:latin typeface="Cambria" panose="02040503050406030204" pitchFamily="18" charset="0"/>
                <a:ea typeface="Cambria" panose="02040503050406030204" pitchFamily="18" charset="0"/>
              </a:rPr>
              <a:t> Need for a </a:t>
            </a:r>
            <a:r>
              <a:rPr lang="en-US" sz="2000" b="1" dirty="0">
                <a:latin typeface="Cambria" panose="02040503050406030204" pitchFamily="18" charset="0"/>
                <a:ea typeface="Cambria" panose="02040503050406030204" pitchFamily="18" charset="0"/>
              </a:rPr>
              <a:t>family-managed, offline-first, elder-friendly mobile health record app</a:t>
            </a:r>
            <a:r>
              <a:rPr lang="en-US" sz="2000" dirty="0">
                <a:latin typeface="Cambria" panose="02040503050406030204" pitchFamily="18" charset="0"/>
                <a:ea typeface="Cambria" panose="02040503050406030204" pitchFamily="18" charset="0"/>
              </a:rPr>
              <a:t>.</a:t>
            </a:r>
          </a:p>
          <a:p>
            <a:r>
              <a:rPr lang="en-US" sz="2000" b="1" dirty="0">
                <a:latin typeface="Cambria" panose="02040503050406030204" pitchFamily="18" charset="0"/>
                <a:ea typeface="Cambria" panose="02040503050406030204" pitchFamily="18" charset="0"/>
              </a:rPr>
              <a:t>Chosen Title:</a:t>
            </a: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HealthVault </a:t>
            </a:r>
          </a:p>
          <a:p>
            <a:pPr marL="76200" indent="0">
              <a:buNone/>
            </a:pPr>
            <a:r>
              <a:rPr lang="en-US" sz="2000" b="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 Family Health Record &amp; Monitoring System.</a:t>
            </a:r>
          </a:p>
          <a:p>
            <a:pPr marL="76200" indent="0">
              <a:buNone/>
            </a:pPr>
            <a:r>
              <a:rPr lang="en-US" sz="2000" dirty="0"/>
              <a:t>	- </a:t>
            </a:r>
            <a:r>
              <a:rPr lang="en-US" sz="2000" dirty="0">
                <a:latin typeface="Cambria" panose="02040503050406030204" pitchFamily="18" charset="0"/>
                <a:ea typeface="Cambria" panose="02040503050406030204" pitchFamily="18" charset="0"/>
              </a:rPr>
              <a:t>conveys security (“vault”) and health data focus.</a:t>
            </a:r>
          </a:p>
          <a:p>
            <a:endParaRPr lang="en-IN" dirty="0"/>
          </a:p>
        </p:txBody>
      </p:sp>
    </p:spTree>
    <p:extLst>
      <p:ext uri="{BB962C8B-B14F-4D97-AF65-F5344CB8AC3E}">
        <p14:creationId xmlns:p14="http://schemas.microsoft.com/office/powerpoint/2010/main" val="2780910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76200" indent="0">
              <a:buNone/>
            </a:pPr>
            <a:r>
              <a:rPr lang="en-US" sz="2000" b="1" dirty="0"/>
              <a:t>🔹 Current Situation</a:t>
            </a:r>
          </a:p>
          <a:p>
            <a:r>
              <a:rPr lang="en-US" sz="2000" dirty="0"/>
              <a:t>Rural &amp; semi-urban communities face difficulties in maintaining consistent medical records.</a:t>
            </a:r>
          </a:p>
          <a:p>
            <a:r>
              <a:rPr lang="en-US" sz="2000" dirty="0"/>
              <a:t>Patients often undergo repeated</a:t>
            </a:r>
            <a:r>
              <a:rPr lang="en-US" sz="2000" b="1" dirty="0"/>
              <a:t> </a:t>
            </a:r>
            <a:r>
              <a:rPr lang="en-US" sz="2000" dirty="0"/>
              <a:t>diagnostic</a:t>
            </a:r>
            <a:r>
              <a:rPr lang="en-US" sz="2000" b="1" dirty="0"/>
              <a:t> </a:t>
            </a:r>
            <a:r>
              <a:rPr lang="en-US" sz="2000" dirty="0"/>
              <a:t>tests → financial &amp; time burden.</a:t>
            </a:r>
          </a:p>
          <a:p>
            <a:r>
              <a:rPr lang="en-US" sz="2000" dirty="0"/>
              <a:t>Elderly individuals struggle with digital literacy, making current apps inaccessible.</a:t>
            </a:r>
          </a:p>
          <a:p>
            <a:pPr marL="76200" indent="0">
              <a:buNone/>
            </a:pPr>
            <a:r>
              <a:rPr lang="en-US" sz="2000" b="1" dirty="0"/>
              <a:t>🔹 Challenges Identified</a:t>
            </a:r>
          </a:p>
          <a:p>
            <a:r>
              <a:rPr lang="en-US" sz="2000" dirty="0"/>
              <a:t>Poor Record Maintenance → Reports are misplaced, not portable across hospitals.</a:t>
            </a:r>
          </a:p>
          <a:p>
            <a:r>
              <a:rPr lang="en-US" sz="2000" dirty="0"/>
              <a:t>Connectivity Barriers → Existing mHealth apps rely heavily on internet access.</a:t>
            </a:r>
          </a:p>
          <a:p>
            <a:r>
              <a:rPr lang="en-US" sz="2000" dirty="0"/>
              <a:t>Elderly Accessibility Issues → Current solutions are text-heavy, not elder-friendly.</a:t>
            </a:r>
          </a:p>
          <a:p>
            <a:r>
              <a:rPr lang="en-US" sz="2000" dirty="0"/>
              <a:t>Fragmented Healthcare Access → Patients are unaware of nearby medical services.</a:t>
            </a:r>
          </a:p>
          <a:p>
            <a:r>
              <a:rPr lang="en-US" sz="2000" dirty="0"/>
              <a:t>Lack of Integration with Hospitals → No direct communication or pre-sharing of reports.</a:t>
            </a:r>
          </a:p>
          <a:p>
            <a:pPr marL="76200" indent="0">
              <a:buNone/>
            </a:pPr>
            <a:r>
              <a:rPr lang="en-US" sz="2000" b="1" dirty="0"/>
              <a:t>🔹 Gap in Existing Solutions</a:t>
            </a:r>
          </a:p>
          <a:p>
            <a:r>
              <a:rPr lang="en-US" sz="2000" dirty="0"/>
              <a:t>Most mobile health apps focus on fitness or personal monitoring, not family-centric record keeping.</a:t>
            </a:r>
          </a:p>
          <a:p>
            <a:r>
              <a:rPr lang="en-US" sz="2000" dirty="0"/>
              <a:t>Telemedicine apps exist but fail in low-connectivity rural environments.</a:t>
            </a:r>
          </a:p>
          <a:p>
            <a:r>
              <a:rPr lang="en-US" sz="2000" dirty="0"/>
              <a:t>Hospital EHR systems are isolated and proprietary; no cross-hospital sharing.</a:t>
            </a:r>
          </a:p>
          <a:p>
            <a:pPr marL="76200" indent="0">
              <a:buNone/>
            </a:pPr>
            <a:r>
              <a:rPr lang="en-US" sz="2000" b="1" dirty="0"/>
              <a:t>🔹 Need for a Solution</a:t>
            </a:r>
          </a:p>
          <a:p>
            <a:r>
              <a:rPr lang="en-US" sz="2000" dirty="0"/>
              <a:t>An offline-first, cloud-synced, family-managed health vault is required.</a:t>
            </a:r>
          </a:p>
          <a:p>
            <a:r>
              <a:rPr lang="en-US" sz="2000" dirty="0"/>
              <a:t>Must provide profile switching, simple visual UI, and secure hospital integration.</a:t>
            </a:r>
          </a:p>
          <a:p>
            <a:r>
              <a:rPr lang="en-US" sz="2000" dirty="0"/>
              <a:t>Ensures cost savings, faster healthcare access, and better elderly inclusion.</a:t>
            </a:r>
          </a:p>
          <a:p>
            <a:pPr marL="342900" indent="-190500">
              <a:spcBef>
                <a:spcPts val="0"/>
              </a:spcBef>
              <a:buSzPct val="100000"/>
              <a:buNone/>
            </a:pPr>
            <a:endParaRPr lang="en-IN" sz="2000" b="1" dirty="0">
              <a:solidFill>
                <a:schemeClr val="bg2">
                  <a:lumMod val="60000"/>
                  <a:lumOff val="40000"/>
                </a:schemeClr>
              </a:solidFill>
              <a:latin typeface="Cambria" panose="02040503050406030204" pitchFamily="18" charset="0"/>
              <a:ea typeface="Cambria" panose="02040503050406030204" pitchFamily="18" charset="0"/>
            </a:endParaRPr>
          </a:p>
          <a:p>
            <a:pPr marL="342900" indent="-190500">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spcBef>
                <a:spcPts val="0"/>
              </a:spcBef>
              <a:buSzPct val="100000"/>
              <a:buNone/>
            </a:pPr>
            <a:endParaRPr lang="en-IN" b="1" dirty="0">
              <a:solidFill>
                <a:schemeClr val="bg2">
                  <a:lumMod val="60000"/>
                  <a:lumOff val="40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IN" sz="2000" b="1" dirty="0">
              <a:solidFill>
                <a:schemeClr val="bg2">
                  <a:lumMod val="60000"/>
                  <a:lumOff val="40000"/>
                </a:schemeClr>
              </a:solidFill>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27994-15CD-7146-0C77-4CBB2D720BA8}"/>
              </a:ext>
            </a:extLst>
          </p:cNvPr>
          <p:cNvSpPr>
            <a:spLocks noGrp="1"/>
          </p:cNvSpPr>
          <p:nvPr>
            <p:ph type="title"/>
          </p:nvPr>
        </p:nvSpPr>
        <p:spPr>
          <a:xfrm>
            <a:off x="812800" y="655501"/>
            <a:ext cx="10668000" cy="487500"/>
          </a:xfrm>
        </p:spPr>
        <p:txBody>
          <a:bodyPr/>
          <a:lstStyle/>
          <a:p>
            <a:r>
              <a:rPr lang="en-IN" dirty="0">
                <a:latin typeface="Cambria" panose="02040503050406030204" pitchFamily="18" charset="0"/>
                <a:ea typeface="Cambria" panose="02040503050406030204" pitchFamily="18" charset="0"/>
              </a:rPr>
              <a:t>Innovation or Novel Contributions</a:t>
            </a:r>
            <a:br>
              <a:rPr lang="en-IN"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C5FC4098-5FE9-57E6-7F11-DF0DC7361C1D}"/>
              </a:ext>
            </a:extLst>
          </p:cNvPr>
          <p:cNvSpPr>
            <a:spLocks noGrp="1" noChangeArrowheads="1"/>
          </p:cNvSpPr>
          <p:nvPr>
            <p:ph type="body" idx="1"/>
          </p:nvPr>
        </p:nvSpPr>
        <p:spPr bwMode="auto">
          <a:xfrm>
            <a:off x="1205992" y="1441409"/>
            <a:ext cx="929132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Multi-profile management in a single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Offline-first architecture for rural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Simplified, icon-based UI for elders.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Emergency medical info accessible from lock screen.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Easy sharing of reports with healthcare providers.</a:t>
            </a:r>
          </a:p>
        </p:txBody>
      </p:sp>
    </p:spTree>
    <p:extLst>
      <p:ext uri="{BB962C8B-B14F-4D97-AF65-F5344CB8AC3E}">
        <p14:creationId xmlns:p14="http://schemas.microsoft.com/office/powerpoint/2010/main" val="4035372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11539-E33F-FF35-9EDF-E3242C9BD175}"/>
              </a:ext>
            </a:extLst>
          </p:cNvPr>
          <p:cNvSpPr>
            <a:spLocks noGrp="1"/>
          </p:cNvSpPr>
          <p:nvPr>
            <p:ph type="title"/>
          </p:nvPr>
        </p:nvSpPr>
        <p:spPr/>
        <p:txBody>
          <a:bodyPr/>
          <a:lstStyle/>
          <a:p>
            <a:r>
              <a:rPr lang="en-US" dirty="0"/>
              <a:t>Literature Survey</a:t>
            </a:r>
            <a:endParaRPr lang="en-IN" dirty="0"/>
          </a:p>
        </p:txBody>
      </p:sp>
      <p:graphicFrame>
        <p:nvGraphicFramePr>
          <p:cNvPr id="7" name="Table 6">
            <a:extLst>
              <a:ext uri="{FF2B5EF4-FFF2-40B4-BE49-F238E27FC236}">
                <a16:creationId xmlns:a16="http://schemas.microsoft.com/office/drawing/2014/main" id="{1F528A2A-2378-16CB-3977-764116C25FD3}"/>
              </a:ext>
            </a:extLst>
          </p:cNvPr>
          <p:cNvGraphicFramePr>
            <a:graphicFrameLocks noGrp="1"/>
          </p:cNvGraphicFramePr>
          <p:nvPr>
            <p:extLst>
              <p:ext uri="{D42A27DB-BD31-4B8C-83A1-F6EECF244321}">
                <p14:modId xmlns:p14="http://schemas.microsoft.com/office/powerpoint/2010/main" val="474597476"/>
              </p:ext>
            </p:extLst>
          </p:nvPr>
        </p:nvGraphicFramePr>
        <p:xfrm>
          <a:off x="812800" y="1021170"/>
          <a:ext cx="9862314" cy="5075100"/>
        </p:xfrm>
        <a:graphic>
          <a:graphicData uri="http://schemas.openxmlformats.org/drawingml/2006/table">
            <a:tbl>
              <a:tblPr/>
              <a:tblGrid>
                <a:gridCol w="1643719">
                  <a:extLst>
                    <a:ext uri="{9D8B030D-6E8A-4147-A177-3AD203B41FA5}">
                      <a16:colId xmlns:a16="http://schemas.microsoft.com/office/drawing/2014/main" val="1383861714"/>
                    </a:ext>
                  </a:extLst>
                </a:gridCol>
                <a:gridCol w="1643719">
                  <a:extLst>
                    <a:ext uri="{9D8B030D-6E8A-4147-A177-3AD203B41FA5}">
                      <a16:colId xmlns:a16="http://schemas.microsoft.com/office/drawing/2014/main" val="1999983113"/>
                    </a:ext>
                  </a:extLst>
                </a:gridCol>
                <a:gridCol w="1643719">
                  <a:extLst>
                    <a:ext uri="{9D8B030D-6E8A-4147-A177-3AD203B41FA5}">
                      <a16:colId xmlns:a16="http://schemas.microsoft.com/office/drawing/2014/main" val="3989626612"/>
                    </a:ext>
                  </a:extLst>
                </a:gridCol>
                <a:gridCol w="1643719">
                  <a:extLst>
                    <a:ext uri="{9D8B030D-6E8A-4147-A177-3AD203B41FA5}">
                      <a16:colId xmlns:a16="http://schemas.microsoft.com/office/drawing/2014/main" val="3867874153"/>
                    </a:ext>
                  </a:extLst>
                </a:gridCol>
                <a:gridCol w="1643719">
                  <a:extLst>
                    <a:ext uri="{9D8B030D-6E8A-4147-A177-3AD203B41FA5}">
                      <a16:colId xmlns:a16="http://schemas.microsoft.com/office/drawing/2014/main" val="280486589"/>
                    </a:ext>
                  </a:extLst>
                </a:gridCol>
                <a:gridCol w="1643719">
                  <a:extLst>
                    <a:ext uri="{9D8B030D-6E8A-4147-A177-3AD203B41FA5}">
                      <a16:colId xmlns:a16="http://schemas.microsoft.com/office/drawing/2014/main" val="4027990788"/>
                    </a:ext>
                  </a:extLst>
                </a:gridCol>
              </a:tblGrid>
              <a:tr h="235557">
                <a:tc>
                  <a:txBody>
                    <a:bodyPr/>
                    <a:lstStyle/>
                    <a:p>
                      <a:pPr>
                        <a:buNone/>
                      </a:pPr>
                      <a:r>
                        <a:rPr lang="en-IN" sz="1300" dirty="0"/>
                        <a:t>No.</a:t>
                      </a:r>
                    </a:p>
                  </a:txBody>
                  <a:tcPr marL="86390" marR="86390" marT="43195" marB="43195" anchor="ctr">
                    <a:lnL>
                      <a:noFill/>
                    </a:lnL>
                    <a:lnR>
                      <a:noFill/>
                    </a:lnR>
                    <a:lnT>
                      <a:noFill/>
                    </a:lnT>
                    <a:lnB>
                      <a:noFill/>
                    </a:lnB>
                    <a:noFill/>
                  </a:tcPr>
                </a:tc>
                <a:tc>
                  <a:txBody>
                    <a:bodyPr/>
                    <a:lstStyle/>
                    <a:p>
                      <a:pPr>
                        <a:buNone/>
                      </a:pPr>
                      <a:r>
                        <a:rPr lang="en-IN" sz="1300"/>
                        <a:t>Title</a:t>
                      </a:r>
                    </a:p>
                  </a:txBody>
                  <a:tcPr marL="86390" marR="86390" marT="43195" marB="43195" anchor="ctr">
                    <a:lnL>
                      <a:noFill/>
                    </a:lnL>
                    <a:lnR>
                      <a:noFill/>
                    </a:lnR>
                    <a:lnT>
                      <a:noFill/>
                    </a:lnT>
                    <a:lnB>
                      <a:noFill/>
                    </a:lnB>
                    <a:noFill/>
                  </a:tcPr>
                </a:tc>
                <a:tc>
                  <a:txBody>
                    <a:bodyPr/>
                    <a:lstStyle/>
                    <a:p>
                      <a:pPr>
                        <a:buNone/>
                      </a:pPr>
                      <a:r>
                        <a:rPr lang="en-IN" sz="1300"/>
                        <a:t>Authors</a:t>
                      </a:r>
                    </a:p>
                  </a:txBody>
                  <a:tcPr marL="86390" marR="86390" marT="43195" marB="43195" anchor="ctr">
                    <a:lnL>
                      <a:noFill/>
                    </a:lnL>
                    <a:lnR>
                      <a:noFill/>
                    </a:lnR>
                    <a:lnT>
                      <a:noFill/>
                    </a:lnT>
                    <a:lnB>
                      <a:noFill/>
                    </a:lnB>
                    <a:noFill/>
                  </a:tcPr>
                </a:tc>
                <a:tc>
                  <a:txBody>
                    <a:bodyPr/>
                    <a:lstStyle/>
                    <a:p>
                      <a:pPr>
                        <a:buNone/>
                      </a:pPr>
                      <a:r>
                        <a:rPr lang="en-IN" sz="1300"/>
                        <a:t>Year</a:t>
                      </a:r>
                    </a:p>
                  </a:txBody>
                  <a:tcPr marL="86390" marR="86390" marT="43195" marB="43195" anchor="ctr">
                    <a:lnL>
                      <a:noFill/>
                    </a:lnL>
                    <a:lnR>
                      <a:noFill/>
                    </a:lnR>
                    <a:lnT>
                      <a:noFill/>
                    </a:lnT>
                    <a:lnB>
                      <a:noFill/>
                    </a:lnB>
                    <a:noFill/>
                  </a:tcPr>
                </a:tc>
                <a:tc>
                  <a:txBody>
                    <a:bodyPr/>
                    <a:lstStyle/>
                    <a:p>
                      <a:pPr>
                        <a:buNone/>
                      </a:pPr>
                      <a:r>
                        <a:rPr lang="en-IN" sz="1300"/>
                        <a:t>Advantages</a:t>
                      </a:r>
                    </a:p>
                  </a:txBody>
                  <a:tcPr marL="86390" marR="86390" marT="43195" marB="43195" anchor="ctr">
                    <a:lnL>
                      <a:noFill/>
                    </a:lnL>
                    <a:lnR>
                      <a:noFill/>
                    </a:lnR>
                    <a:lnT>
                      <a:noFill/>
                    </a:lnT>
                    <a:lnB>
                      <a:noFill/>
                    </a:lnB>
                    <a:noFill/>
                  </a:tcPr>
                </a:tc>
                <a:tc>
                  <a:txBody>
                    <a:bodyPr/>
                    <a:lstStyle/>
                    <a:p>
                      <a:pPr>
                        <a:buNone/>
                      </a:pPr>
                      <a:r>
                        <a:rPr lang="en-IN" sz="1300"/>
                        <a:t>Disadvantages</a:t>
                      </a:r>
                    </a:p>
                  </a:txBody>
                  <a:tcPr marL="86390" marR="86390" marT="43195" marB="43195" anchor="ctr">
                    <a:lnL>
                      <a:noFill/>
                    </a:lnL>
                    <a:lnR>
                      <a:noFill/>
                    </a:lnR>
                    <a:lnT>
                      <a:noFill/>
                    </a:lnT>
                    <a:lnB>
                      <a:noFill/>
                    </a:lnB>
                    <a:noFill/>
                  </a:tcPr>
                </a:tc>
                <a:extLst>
                  <a:ext uri="{0D108BD9-81ED-4DB2-BD59-A6C34878D82A}">
                    <a16:rowId xmlns:a16="http://schemas.microsoft.com/office/drawing/2014/main" val="4168203723"/>
                  </a:ext>
                </a:extLst>
              </a:tr>
              <a:tr h="729544">
                <a:tc>
                  <a:txBody>
                    <a:bodyPr/>
                    <a:lstStyle/>
                    <a:p>
                      <a:pPr>
                        <a:buNone/>
                      </a:pPr>
                      <a:r>
                        <a:rPr lang="en-IN" sz="1300"/>
                        <a:t>1</a:t>
                      </a:r>
                    </a:p>
                  </a:txBody>
                  <a:tcPr marL="86390" marR="86390" marT="43195" marB="43195" anchor="ctr">
                    <a:lnL>
                      <a:noFill/>
                    </a:lnL>
                    <a:lnR>
                      <a:noFill/>
                    </a:lnR>
                    <a:lnT>
                      <a:noFill/>
                    </a:lnT>
                    <a:lnB>
                      <a:noFill/>
                    </a:lnB>
                    <a:noFill/>
                  </a:tcPr>
                </a:tc>
                <a:tc>
                  <a:txBody>
                    <a:bodyPr/>
                    <a:lstStyle/>
                    <a:p>
                      <a:pPr>
                        <a:buNone/>
                      </a:pPr>
                      <a:r>
                        <a:rPr lang="en-US" sz="1300"/>
                        <a:t>iCare: A Mobile Health Monitoring System for the Elderly</a:t>
                      </a:r>
                    </a:p>
                  </a:txBody>
                  <a:tcPr marL="86390" marR="86390" marT="43195" marB="43195" anchor="ctr">
                    <a:lnL>
                      <a:noFill/>
                    </a:lnL>
                    <a:lnR>
                      <a:noFill/>
                    </a:lnR>
                    <a:lnT>
                      <a:noFill/>
                    </a:lnT>
                    <a:lnB>
                      <a:noFill/>
                    </a:lnB>
                    <a:noFill/>
                  </a:tcPr>
                </a:tc>
                <a:tc>
                  <a:txBody>
                    <a:bodyPr/>
                    <a:lstStyle/>
                    <a:p>
                      <a:pPr>
                        <a:buNone/>
                      </a:pPr>
                      <a:r>
                        <a:rPr lang="en-IN" sz="1300"/>
                        <a:t>Y. Yuan, J. Xu, J. Zhang, G. Yu</a:t>
                      </a:r>
                    </a:p>
                  </a:txBody>
                  <a:tcPr marL="86390" marR="86390" marT="43195" marB="43195" anchor="ctr">
                    <a:lnL>
                      <a:noFill/>
                    </a:lnL>
                    <a:lnR>
                      <a:noFill/>
                    </a:lnR>
                    <a:lnT>
                      <a:noFill/>
                    </a:lnT>
                    <a:lnB>
                      <a:noFill/>
                    </a:lnB>
                    <a:noFill/>
                  </a:tcPr>
                </a:tc>
                <a:tc>
                  <a:txBody>
                    <a:bodyPr/>
                    <a:lstStyle/>
                    <a:p>
                      <a:pPr>
                        <a:buNone/>
                      </a:pPr>
                      <a:r>
                        <a:rPr lang="en-IN" sz="1300"/>
                        <a:t>2010</a:t>
                      </a:r>
                    </a:p>
                  </a:txBody>
                  <a:tcPr marL="86390" marR="86390" marT="43195" marB="43195" anchor="ctr">
                    <a:lnL>
                      <a:noFill/>
                    </a:lnL>
                    <a:lnR>
                      <a:noFill/>
                    </a:lnR>
                    <a:lnT>
                      <a:noFill/>
                    </a:lnT>
                    <a:lnB>
                      <a:noFill/>
                    </a:lnB>
                    <a:noFill/>
                  </a:tcPr>
                </a:tc>
                <a:tc>
                  <a:txBody>
                    <a:bodyPr/>
                    <a:lstStyle/>
                    <a:p>
                      <a:pPr>
                        <a:buNone/>
                      </a:pPr>
                      <a:r>
                        <a:rPr lang="en-US" sz="1300"/>
                        <a:t>Early mobile-based monitoring for elderly; continuous data collection</a:t>
                      </a:r>
                    </a:p>
                  </a:txBody>
                  <a:tcPr marL="86390" marR="86390" marT="43195" marB="43195" anchor="ctr">
                    <a:lnL>
                      <a:noFill/>
                    </a:lnL>
                    <a:lnR>
                      <a:noFill/>
                    </a:lnR>
                    <a:lnT>
                      <a:noFill/>
                    </a:lnT>
                    <a:lnB>
                      <a:noFill/>
                    </a:lnB>
                    <a:noFill/>
                  </a:tcPr>
                </a:tc>
                <a:tc>
                  <a:txBody>
                    <a:bodyPr/>
                    <a:lstStyle/>
                    <a:p>
                      <a:pPr>
                        <a:buNone/>
                      </a:pPr>
                      <a:r>
                        <a:rPr lang="en-US" sz="1300"/>
                        <a:t>Limited scalability; no offline support</a:t>
                      </a:r>
                    </a:p>
                  </a:txBody>
                  <a:tcPr marL="86390" marR="86390" marT="43195" marB="43195" anchor="ctr">
                    <a:lnL>
                      <a:noFill/>
                    </a:lnL>
                    <a:lnR>
                      <a:noFill/>
                    </a:lnR>
                    <a:lnT>
                      <a:noFill/>
                    </a:lnT>
                    <a:lnB>
                      <a:noFill/>
                    </a:lnB>
                    <a:noFill/>
                  </a:tcPr>
                </a:tc>
                <a:extLst>
                  <a:ext uri="{0D108BD9-81ED-4DB2-BD59-A6C34878D82A}">
                    <a16:rowId xmlns:a16="http://schemas.microsoft.com/office/drawing/2014/main" val="3032309650"/>
                  </a:ext>
                </a:extLst>
              </a:tr>
              <a:tr h="894279">
                <a:tc>
                  <a:txBody>
                    <a:bodyPr/>
                    <a:lstStyle/>
                    <a:p>
                      <a:pPr>
                        <a:buNone/>
                      </a:pPr>
                      <a:r>
                        <a:rPr lang="en-IN" sz="1300"/>
                        <a:t>2</a:t>
                      </a:r>
                    </a:p>
                  </a:txBody>
                  <a:tcPr marL="86390" marR="86390" marT="43195" marB="43195" anchor="ctr">
                    <a:lnL>
                      <a:noFill/>
                    </a:lnL>
                    <a:lnR>
                      <a:noFill/>
                    </a:lnR>
                    <a:lnT>
                      <a:noFill/>
                    </a:lnT>
                    <a:lnB>
                      <a:noFill/>
                    </a:lnB>
                    <a:noFill/>
                  </a:tcPr>
                </a:tc>
                <a:tc>
                  <a:txBody>
                    <a:bodyPr/>
                    <a:lstStyle/>
                    <a:p>
                      <a:pPr>
                        <a:buNone/>
                      </a:pPr>
                      <a:r>
                        <a:rPr lang="en-US" sz="1300"/>
                        <a:t>Opportunistic mHealth Architecture for Remote Patient Monitoring</a:t>
                      </a:r>
                    </a:p>
                  </a:txBody>
                  <a:tcPr marL="86390" marR="86390" marT="43195" marB="43195" anchor="ctr">
                    <a:lnL>
                      <a:noFill/>
                    </a:lnL>
                    <a:lnR>
                      <a:noFill/>
                    </a:lnR>
                    <a:lnT>
                      <a:noFill/>
                    </a:lnT>
                    <a:lnB>
                      <a:noFill/>
                    </a:lnB>
                    <a:noFill/>
                  </a:tcPr>
                </a:tc>
                <a:tc>
                  <a:txBody>
                    <a:bodyPr/>
                    <a:lstStyle/>
                    <a:p>
                      <a:pPr>
                        <a:buNone/>
                      </a:pPr>
                      <a:r>
                        <a:rPr lang="en-IN" sz="1300"/>
                        <a:t>A. Vahdatpour, M. Amini, M. Sarrafzadeh</a:t>
                      </a:r>
                    </a:p>
                  </a:txBody>
                  <a:tcPr marL="86390" marR="86390" marT="43195" marB="43195" anchor="ctr">
                    <a:lnL>
                      <a:noFill/>
                    </a:lnL>
                    <a:lnR>
                      <a:noFill/>
                    </a:lnR>
                    <a:lnT>
                      <a:noFill/>
                    </a:lnT>
                    <a:lnB>
                      <a:noFill/>
                    </a:lnB>
                    <a:noFill/>
                  </a:tcPr>
                </a:tc>
                <a:tc>
                  <a:txBody>
                    <a:bodyPr/>
                    <a:lstStyle/>
                    <a:p>
                      <a:pPr>
                        <a:buNone/>
                      </a:pPr>
                      <a:r>
                        <a:rPr lang="en-IN" sz="1300"/>
                        <a:t>2019</a:t>
                      </a:r>
                    </a:p>
                  </a:txBody>
                  <a:tcPr marL="86390" marR="86390" marT="43195" marB="43195" anchor="ctr">
                    <a:lnL>
                      <a:noFill/>
                    </a:lnL>
                    <a:lnR>
                      <a:noFill/>
                    </a:lnR>
                    <a:lnT>
                      <a:noFill/>
                    </a:lnT>
                    <a:lnB>
                      <a:noFill/>
                    </a:lnB>
                    <a:noFill/>
                  </a:tcPr>
                </a:tc>
                <a:tc>
                  <a:txBody>
                    <a:bodyPr/>
                    <a:lstStyle/>
                    <a:p>
                      <a:pPr>
                        <a:buNone/>
                      </a:pPr>
                      <a:r>
                        <a:rPr lang="en-IN" sz="1300"/>
                        <a:t>Supports opportunistic data collection; adaptive monitoring</a:t>
                      </a:r>
                    </a:p>
                  </a:txBody>
                  <a:tcPr marL="86390" marR="86390" marT="43195" marB="43195" anchor="ctr">
                    <a:lnL>
                      <a:noFill/>
                    </a:lnL>
                    <a:lnR>
                      <a:noFill/>
                    </a:lnR>
                    <a:lnT>
                      <a:noFill/>
                    </a:lnT>
                    <a:lnB>
                      <a:noFill/>
                    </a:lnB>
                    <a:noFill/>
                  </a:tcPr>
                </a:tc>
                <a:tc>
                  <a:txBody>
                    <a:bodyPr/>
                    <a:lstStyle/>
                    <a:p>
                      <a:pPr>
                        <a:buNone/>
                      </a:pPr>
                      <a:r>
                        <a:rPr lang="en-US" sz="1300"/>
                        <a:t>Dependent on stable connectivity; complex for rural areas</a:t>
                      </a:r>
                    </a:p>
                  </a:txBody>
                  <a:tcPr marL="86390" marR="86390" marT="43195" marB="43195" anchor="ctr">
                    <a:lnL>
                      <a:noFill/>
                    </a:lnL>
                    <a:lnR>
                      <a:noFill/>
                    </a:lnR>
                    <a:lnT>
                      <a:noFill/>
                    </a:lnT>
                    <a:lnB>
                      <a:noFill/>
                    </a:lnB>
                    <a:noFill/>
                  </a:tcPr>
                </a:tc>
                <a:extLst>
                  <a:ext uri="{0D108BD9-81ED-4DB2-BD59-A6C34878D82A}">
                    <a16:rowId xmlns:a16="http://schemas.microsoft.com/office/drawing/2014/main" val="3310364562"/>
                  </a:ext>
                </a:extLst>
              </a:tr>
              <a:tr h="729544">
                <a:tc>
                  <a:txBody>
                    <a:bodyPr/>
                    <a:lstStyle/>
                    <a:p>
                      <a:pPr>
                        <a:buNone/>
                      </a:pPr>
                      <a:r>
                        <a:rPr lang="en-IN" sz="1300"/>
                        <a:t>3</a:t>
                      </a:r>
                    </a:p>
                  </a:txBody>
                  <a:tcPr marL="86390" marR="86390" marT="43195" marB="43195" anchor="ctr">
                    <a:lnL>
                      <a:noFill/>
                    </a:lnL>
                    <a:lnR>
                      <a:noFill/>
                    </a:lnR>
                    <a:lnT>
                      <a:noFill/>
                    </a:lnT>
                    <a:lnB>
                      <a:noFill/>
                    </a:lnB>
                    <a:noFill/>
                  </a:tcPr>
                </a:tc>
                <a:tc>
                  <a:txBody>
                    <a:bodyPr/>
                    <a:lstStyle/>
                    <a:p>
                      <a:pPr>
                        <a:buNone/>
                      </a:pPr>
                      <a:r>
                        <a:rPr lang="en-US" sz="1300"/>
                        <a:t>Remote Based Patient Monitoring with Wearable Sensors</a:t>
                      </a:r>
                    </a:p>
                  </a:txBody>
                  <a:tcPr marL="86390" marR="86390" marT="43195" marB="43195" anchor="ctr">
                    <a:lnL>
                      <a:noFill/>
                    </a:lnL>
                    <a:lnR>
                      <a:noFill/>
                    </a:lnR>
                    <a:lnT>
                      <a:noFill/>
                    </a:lnT>
                    <a:lnB>
                      <a:noFill/>
                    </a:lnB>
                    <a:noFill/>
                  </a:tcPr>
                </a:tc>
                <a:tc>
                  <a:txBody>
                    <a:bodyPr/>
                    <a:lstStyle/>
                    <a:p>
                      <a:pPr>
                        <a:buNone/>
                      </a:pPr>
                      <a:r>
                        <a:rPr lang="en-IN" sz="1300"/>
                        <a:t>K. S. Abhishek, P. Kumar, A. Sharma, P. Kumar</a:t>
                      </a:r>
                    </a:p>
                  </a:txBody>
                  <a:tcPr marL="86390" marR="86390" marT="43195" marB="43195" anchor="ctr">
                    <a:lnL>
                      <a:noFill/>
                    </a:lnL>
                    <a:lnR>
                      <a:noFill/>
                    </a:lnR>
                    <a:lnT>
                      <a:noFill/>
                    </a:lnT>
                    <a:lnB>
                      <a:noFill/>
                    </a:lnB>
                    <a:noFill/>
                  </a:tcPr>
                </a:tc>
                <a:tc>
                  <a:txBody>
                    <a:bodyPr/>
                    <a:lstStyle/>
                    <a:p>
                      <a:pPr>
                        <a:buNone/>
                      </a:pPr>
                      <a:r>
                        <a:rPr lang="en-IN" sz="1300"/>
                        <a:t>2017</a:t>
                      </a:r>
                    </a:p>
                  </a:txBody>
                  <a:tcPr marL="86390" marR="86390" marT="43195" marB="43195" anchor="ctr">
                    <a:lnL>
                      <a:noFill/>
                    </a:lnL>
                    <a:lnR>
                      <a:noFill/>
                    </a:lnR>
                    <a:lnT>
                      <a:noFill/>
                    </a:lnT>
                    <a:lnB>
                      <a:noFill/>
                    </a:lnB>
                    <a:noFill/>
                  </a:tcPr>
                </a:tc>
                <a:tc>
                  <a:txBody>
                    <a:bodyPr/>
                    <a:lstStyle/>
                    <a:p>
                      <a:pPr>
                        <a:buNone/>
                      </a:pPr>
                      <a:r>
                        <a:rPr lang="fr-FR" sz="1300"/>
                        <a:t>Wearables + mobile app; supports online/offline mode</a:t>
                      </a:r>
                    </a:p>
                  </a:txBody>
                  <a:tcPr marL="86390" marR="86390" marT="43195" marB="43195" anchor="ctr">
                    <a:lnL>
                      <a:noFill/>
                    </a:lnL>
                    <a:lnR>
                      <a:noFill/>
                    </a:lnR>
                    <a:lnT>
                      <a:noFill/>
                    </a:lnT>
                    <a:lnB>
                      <a:noFill/>
                    </a:lnB>
                    <a:noFill/>
                  </a:tcPr>
                </a:tc>
                <a:tc>
                  <a:txBody>
                    <a:bodyPr/>
                    <a:lstStyle/>
                    <a:p>
                      <a:pPr>
                        <a:buNone/>
                      </a:pPr>
                      <a:r>
                        <a:rPr lang="en-US" sz="1300"/>
                        <a:t>Device dependency; limited user-friendliness for elderly</a:t>
                      </a:r>
                    </a:p>
                  </a:txBody>
                  <a:tcPr marL="86390" marR="86390" marT="43195" marB="43195" anchor="ctr">
                    <a:lnL>
                      <a:noFill/>
                    </a:lnL>
                    <a:lnR>
                      <a:noFill/>
                    </a:lnR>
                    <a:lnT>
                      <a:noFill/>
                    </a:lnT>
                    <a:lnB>
                      <a:noFill/>
                    </a:lnB>
                    <a:noFill/>
                  </a:tcPr>
                </a:tc>
                <a:extLst>
                  <a:ext uri="{0D108BD9-81ED-4DB2-BD59-A6C34878D82A}">
                    <a16:rowId xmlns:a16="http://schemas.microsoft.com/office/drawing/2014/main" val="3424399348"/>
                  </a:ext>
                </a:extLst>
              </a:tr>
              <a:tr h="729544">
                <a:tc>
                  <a:txBody>
                    <a:bodyPr/>
                    <a:lstStyle/>
                    <a:p>
                      <a:pPr>
                        <a:buNone/>
                      </a:pPr>
                      <a:r>
                        <a:rPr lang="en-IN" sz="1300"/>
                        <a:t>4</a:t>
                      </a:r>
                    </a:p>
                  </a:txBody>
                  <a:tcPr marL="86390" marR="86390" marT="43195" marB="43195" anchor="ctr">
                    <a:lnL>
                      <a:noFill/>
                    </a:lnL>
                    <a:lnR>
                      <a:noFill/>
                    </a:lnR>
                    <a:lnT>
                      <a:noFill/>
                    </a:lnT>
                    <a:lnB>
                      <a:noFill/>
                    </a:lnB>
                    <a:noFill/>
                  </a:tcPr>
                </a:tc>
                <a:tc>
                  <a:txBody>
                    <a:bodyPr/>
                    <a:lstStyle/>
                    <a:p>
                      <a:pPr>
                        <a:buNone/>
                      </a:pPr>
                      <a:r>
                        <a:rPr lang="en-US" sz="1300"/>
                        <a:t>IoT for Healthcare: A Comprehensive Survey</a:t>
                      </a:r>
                    </a:p>
                  </a:txBody>
                  <a:tcPr marL="86390" marR="86390" marT="43195" marB="43195" anchor="ctr">
                    <a:lnL>
                      <a:noFill/>
                    </a:lnL>
                    <a:lnR>
                      <a:noFill/>
                    </a:lnR>
                    <a:lnT>
                      <a:noFill/>
                    </a:lnT>
                    <a:lnB>
                      <a:noFill/>
                    </a:lnB>
                    <a:noFill/>
                  </a:tcPr>
                </a:tc>
                <a:tc>
                  <a:txBody>
                    <a:bodyPr/>
                    <a:lstStyle/>
                    <a:p>
                      <a:pPr>
                        <a:buNone/>
                      </a:pPr>
                      <a:r>
                        <a:rPr lang="sv-SE" sz="1300"/>
                        <a:t>S. M. R. Islam, D. Kwak, M. H. Kabir, M. Hossain, K. S. Kwak</a:t>
                      </a:r>
                    </a:p>
                  </a:txBody>
                  <a:tcPr marL="86390" marR="86390" marT="43195" marB="43195" anchor="ctr">
                    <a:lnL>
                      <a:noFill/>
                    </a:lnL>
                    <a:lnR>
                      <a:noFill/>
                    </a:lnR>
                    <a:lnT>
                      <a:noFill/>
                    </a:lnT>
                    <a:lnB>
                      <a:noFill/>
                    </a:lnB>
                    <a:noFill/>
                  </a:tcPr>
                </a:tc>
                <a:tc>
                  <a:txBody>
                    <a:bodyPr/>
                    <a:lstStyle/>
                    <a:p>
                      <a:pPr>
                        <a:buNone/>
                      </a:pPr>
                      <a:r>
                        <a:rPr lang="en-IN" sz="1300"/>
                        <a:t>2015</a:t>
                      </a:r>
                    </a:p>
                  </a:txBody>
                  <a:tcPr marL="86390" marR="86390" marT="43195" marB="43195" anchor="ctr">
                    <a:lnL>
                      <a:noFill/>
                    </a:lnL>
                    <a:lnR>
                      <a:noFill/>
                    </a:lnR>
                    <a:lnT>
                      <a:noFill/>
                    </a:lnT>
                    <a:lnB>
                      <a:noFill/>
                    </a:lnB>
                    <a:noFill/>
                  </a:tcPr>
                </a:tc>
                <a:tc>
                  <a:txBody>
                    <a:bodyPr/>
                    <a:lstStyle/>
                    <a:p>
                      <a:pPr>
                        <a:buNone/>
                      </a:pPr>
                      <a:r>
                        <a:rPr lang="en-US" sz="1300"/>
                        <a:t>Broad overview of IoT in healthcare; strong technical foundation</a:t>
                      </a:r>
                    </a:p>
                  </a:txBody>
                  <a:tcPr marL="86390" marR="86390" marT="43195" marB="43195" anchor="ctr">
                    <a:lnL>
                      <a:noFill/>
                    </a:lnL>
                    <a:lnR>
                      <a:noFill/>
                    </a:lnR>
                    <a:lnT>
                      <a:noFill/>
                    </a:lnT>
                    <a:lnB>
                      <a:noFill/>
                    </a:lnB>
                    <a:noFill/>
                  </a:tcPr>
                </a:tc>
                <a:tc>
                  <a:txBody>
                    <a:bodyPr/>
                    <a:lstStyle/>
                    <a:p>
                      <a:pPr>
                        <a:buNone/>
                      </a:pPr>
                      <a:r>
                        <a:rPr lang="en-US" sz="1300"/>
                        <a:t>Lacks focus on usability and rural deployment</a:t>
                      </a:r>
                    </a:p>
                  </a:txBody>
                  <a:tcPr marL="86390" marR="86390" marT="43195" marB="43195" anchor="ctr">
                    <a:lnL>
                      <a:noFill/>
                    </a:lnL>
                    <a:lnR>
                      <a:noFill/>
                    </a:lnR>
                    <a:lnT>
                      <a:noFill/>
                    </a:lnT>
                    <a:lnB>
                      <a:noFill/>
                    </a:lnB>
                    <a:noFill/>
                  </a:tcPr>
                </a:tc>
                <a:extLst>
                  <a:ext uri="{0D108BD9-81ED-4DB2-BD59-A6C34878D82A}">
                    <a16:rowId xmlns:a16="http://schemas.microsoft.com/office/drawing/2014/main" val="871925325"/>
                  </a:ext>
                </a:extLst>
              </a:tr>
              <a:tr h="729544">
                <a:tc>
                  <a:txBody>
                    <a:bodyPr/>
                    <a:lstStyle/>
                    <a:p>
                      <a:pPr>
                        <a:buNone/>
                      </a:pPr>
                      <a:r>
                        <a:rPr lang="en-IN" sz="1300"/>
                        <a:t>5</a:t>
                      </a:r>
                    </a:p>
                  </a:txBody>
                  <a:tcPr marL="86390" marR="86390" marT="43195" marB="43195" anchor="ctr">
                    <a:lnL>
                      <a:noFill/>
                    </a:lnL>
                    <a:lnR>
                      <a:noFill/>
                    </a:lnR>
                    <a:lnT>
                      <a:noFill/>
                    </a:lnT>
                    <a:lnB>
                      <a:noFill/>
                    </a:lnB>
                    <a:noFill/>
                  </a:tcPr>
                </a:tc>
                <a:tc>
                  <a:txBody>
                    <a:bodyPr/>
                    <a:lstStyle/>
                    <a:p>
                      <a:pPr>
                        <a:buNone/>
                      </a:pPr>
                      <a:r>
                        <a:rPr lang="en-US" sz="1300"/>
                        <a:t>IoT-Enabled Low-Cost Fog Computing for Rural Healthcare</a:t>
                      </a:r>
                    </a:p>
                  </a:txBody>
                  <a:tcPr marL="86390" marR="86390" marT="43195" marB="43195" anchor="ctr">
                    <a:lnL>
                      <a:noFill/>
                    </a:lnL>
                    <a:lnR>
                      <a:noFill/>
                    </a:lnR>
                    <a:lnT>
                      <a:noFill/>
                    </a:lnT>
                    <a:lnB>
                      <a:noFill/>
                    </a:lnB>
                    <a:noFill/>
                  </a:tcPr>
                </a:tc>
                <a:tc>
                  <a:txBody>
                    <a:bodyPr/>
                    <a:lstStyle/>
                    <a:p>
                      <a:pPr>
                        <a:buNone/>
                      </a:pPr>
                      <a:r>
                        <a:rPr lang="en-IN" sz="1300"/>
                        <a:t>H. Maneshti, M. Dadashi, K. Rostami</a:t>
                      </a:r>
                    </a:p>
                  </a:txBody>
                  <a:tcPr marL="86390" marR="86390" marT="43195" marB="43195" anchor="ctr">
                    <a:lnL>
                      <a:noFill/>
                    </a:lnL>
                    <a:lnR>
                      <a:noFill/>
                    </a:lnR>
                    <a:lnT>
                      <a:noFill/>
                    </a:lnT>
                    <a:lnB>
                      <a:noFill/>
                    </a:lnB>
                    <a:noFill/>
                  </a:tcPr>
                </a:tc>
                <a:tc>
                  <a:txBody>
                    <a:bodyPr/>
                    <a:lstStyle/>
                    <a:p>
                      <a:pPr>
                        <a:buNone/>
                      </a:pPr>
                      <a:r>
                        <a:rPr lang="en-IN" sz="1300"/>
                        <a:t>2023</a:t>
                      </a:r>
                    </a:p>
                  </a:txBody>
                  <a:tcPr marL="86390" marR="86390" marT="43195" marB="43195" anchor="ctr">
                    <a:lnL>
                      <a:noFill/>
                    </a:lnL>
                    <a:lnR>
                      <a:noFill/>
                    </a:lnR>
                    <a:lnT>
                      <a:noFill/>
                    </a:lnT>
                    <a:lnB>
                      <a:noFill/>
                    </a:lnB>
                    <a:noFill/>
                  </a:tcPr>
                </a:tc>
                <a:tc>
                  <a:txBody>
                    <a:bodyPr/>
                    <a:lstStyle/>
                    <a:p>
                      <a:pPr>
                        <a:buNone/>
                      </a:pPr>
                      <a:r>
                        <a:rPr lang="en-US" sz="1300"/>
                        <a:t>Low-cost fog computing; real-time heart monitoring</a:t>
                      </a:r>
                    </a:p>
                  </a:txBody>
                  <a:tcPr marL="86390" marR="86390" marT="43195" marB="43195" anchor="ctr">
                    <a:lnL>
                      <a:noFill/>
                    </a:lnL>
                    <a:lnR>
                      <a:noFill/>
                    </a:lnR>
                    <a:lnT>
                      <a:noFill/>
                    </a:lnT>
                    <a:lnB>
                      <a:noFill/>
                    </a:lnB>
                    <a:noFill/>
                  </a:tcPr>
                </a:tc>
                <a:tc>
                  <a:txBody>
                    <a:bodyPr/>
                    <a:lstStyle/>
                    <a:p>
                      <a:pPr>
                        <a:buNone/>
                      </a:pPr>
                      <a:r>
                        <a:rPr lang="en-US" sz="1300" dirty="0"/>
                        <a:t>Requires technical infrastructure; not family-centric</a:t>
                      </a:r>
                    </a:p>
                  </a:txBody>
                  <a:tcPr marL="86390" marR="86390" marT="43195" marB="43195" anchor="ctr">
                    <a:lnL>
                      <a:noFill/>
                    </a:lnL>
                    <a:lnR>
                      <a:noFill/>
                    </a:lnR>
                    <a:lnT>
                      <a:noFill/>
                    </a:lnT>
                    <a:lnB>
                      <a:noFill/>
                    </a:lnB>
                    <a:noFill/>
                  </a:tcPr>
                </a:tc>
                <a:extLst>
                  <a:ext uri="{0D108BD9-81ED-4DB2-BD59-A6C34878D82A}">
                    <a16:rowId xmlns:a16="http://schemas.microsoft.com/office/drawing/2014/main" val="1622220530"/>
                  </a:ext>
                </a:extLst>
              </a:tr>
            </a:tbl>
          </a:graphicData>
        </a:graphic>
      </p:graphicFrame>
    </p:spTree>
    <p:extLst>
      <p:ext uri="{BB962C8B-B14F-4D97-AF65-F5344CB8AC3E}">
        <p14:creationId xmlns:p14="http://schemas.microsoft.com/office/powerpoint/2010/main" val="384753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2F5DD-3CB9-0D6B-772E-17CF8D3419A3}"/>
              </a:ext>
            </a:extLst>
          </p:cNvPr>
          <p:cNvSpPr>
            <a:spLocks noGrp="1"/>
          </p:cNvSpPr>
          <p:nvPr>
            <p:ph type="title"/>
          </p:nvPr>
        </p:nvSpPr>
        <p:spPr/>
        <p:txBody>
          <a:bodyPr/>
          <a:lstStyle/>
          <a:p>
            <a:r>
              <a:rPr lang="en-US" dirty="0"/>
              <a:t>Literature Survey</a:t>
            </a:r>
            <a:endParaRPr lang="en-IN" dirty="0"/>
          </a:p>
        </p:txBody>
      </p:sp>
      <p:graphicFrame>
        <p:nvGraphicFramePr>
          <p:cNvPr id="4" name="Table 3">
            <a:extLst>
              <a:ext uri="{FF2B5EF4-FFF2-40B4-BE49-F238E27FC236}">
                <a16:creationId xmlns:a16="http://schemas.microsoft.com/office/drawing/2014/main" id="{93BB08AA-4DE3-32D5-CA16-06BF3396CFCA}"/>
              </a:ext>
            </a:extLst>
          </p:cNvPr>
          <p:cNvGraphicFramePr>
            <a:graphicFrameLocks noGrp="1"/>
          </p:cNvGraphicFramePr>
          <p:nvPr>
            <p:extLst>
              <p:ext uri="{D42A27DB-BD31-4B8C-83A1-F6EECF244321}">
                <p14:modId xmlns:p14="http://schemas.microsoft.com/office/powerpoint/2010/main" val="641652947"/>
              </p:ext>
            </p:extLst>
          </p:nvPr>
        </p:nvGraphicFramePr>
        <p:xfrm>
          <a:off x="812800" y="1078992"/>
          <a:ext cx="10078782" cy="4953000"/>
        </p:xfrm>
        <a:graphic>
          <a:graphicData uri="http://schemas.openxmlformats.org/drawingml/2006/table">
            <a:tbl>
              <a:tblPr/>
              <a:tblGrid>
                <a:gridCol w="1679797">
                  <a:extLst>
                    <a:ext uri="{9D8B030D-6E8A-4147-A177-3AD203B41FA5}">
                      <a16:colId xmlns:a16="http://schemas.microsoft.com/office/drawing/2014/main" val="14235000"/>
                    </a:ext>
                  </a:extLst>
                </a:gridCol>
                <a:gridCol w="1679797">
                  <a:extLst>
                    <a:ext uri="{9D8B030D-6E8A-4147-A177-3AD203B41FA5}">
                      <a16:colId xmlns:a16="http://schemas.microsoft.com/office/drawing/2014/main" val="4107768044"/>
                    </a:ext>
                  </a:extLst>
                </a:gridCol>
                <a:gridCol w="1679797">
                  <a:extLst>
                    <a:ext uri="{9D8B030D-6E8A-4147-A177-3AD203B41FA5}">
                      <a16:colId xmlns:a16="http://schemas.microsoft.com/office/drawing/2014/main" val="922424614"/>
                    </a:ext>
                  </a:extLst>
                </a:gridCol>
                <a:gridCol w="1679797">
                  <a:extLst>
                    <a:ext uri="{9D8B030D-6E8A-4147-A177-3AD203B41FA5}">
                      <a16:colId xmlns:a16="http://schemas.microsoft.com/office/drawing/2014/main" val="321261878"/>
                    </a:ext>
                  </a:extLst>
                </a:gridCol>
                <a:gridCol w="1679797">
                  <a:extLst>
                    <a:ext uri="{9D8B030D-6E8A-4147-A177-3AD203B41FA5}">
                      <a16:colId xmlns:a16="http://schemas.microsoft.com/office/drawing/2014/main" val="3854555157"/>
                    </a:ext>
                  </a:extLst>
                </a:gridCol>
                <a:gridCol w="1679797">
                  <a:extLst>
                    <a:ext uri="{9D8B030D-6E8A-4147-A177-3AD203B41FA5}">
                      <a16:colId xmlns:a16="http://schemas.microsoft.com/office/drawing/2014/main" val="1820133285"/>
                    </a:ext>
                  </a:extLst>
                </a:gridCol>
              </a:tblGrid>
              <a:tr h="287965">
                <a:tc>
                  <a:txBody>
                    <a:bodyPr/>
                    <a:lstStyle/>
                    <a:p>
                      <a:pPr>
                        <a:buNone/>
                      </a:pPr>
                      <a:r>
                        <a:rPr lang="en-IN" sz="1300"/>
                        <a:t>No.</a:t>
                      </a:r>
                    </a:p>
                  </a:txBody>
                  <a:tcPr marL="86390" marR="86390" marT="43195" marB="43195" anchor="ctr">
                    <a:lnL>
                      <a:noFill/>
                    </a:lnL>
                    <a:lnR>
                      <a:noFill/>
                    </a:lnR>
                    <a:lnT>
                      <a:noFill/>
                    </a:lnT>
                    <a:lnB>
                      <a:noFill/>
                    </a:lnB>
                    <a:noFill/>
                  </a:tcPr>
                </a:tc>
                <a:tc>
                  <a:txBody>
                    <a:bodyPr/>
                    <a:lstStyle/>
                    <a:p>
                      <a:pPr>
                        <a:buNone/>
                      </a:pPr>
                      <a:r>
                        <a:rPr lang="en-IN" sz="1300"/>
                        <a:t>Title</a:t>
                      </a:r>
                    </a:p>
                  </a:txBody>
                  <a:tcPr marL="86390" marR="86390" marT="43195" marB="43195" anchor="ctr">
                    <a:lnL>
                      <a:noFill/>
                    </a:lnL>
                    <a:lnR>
                      <a:noFill/>
                    </a:lnR>
                    <a:lnT>
                      <a:noFill/>
                    </a:lnT>
                    <a:lnB>
                      <a:noFill/>
                    </a:lnB>
                    <a:noFill/>
                  </a:tcPr>
                </a:tc>
                <a:tc>
                  <a:txBody>
                    <a:bodyPr/>
                    <a:lstStyle/>
                    <a:p>
                      <a:pPr>
                        <a:buNone/>
                      </a:pPr>
                      <a:r>
                        <a:rPr lang="en-IN" sz="1300"/>
                        <a:t>Authors</a:t>
                      </a:r>
                    </a:p>
                  </a:txBody>
                  <a:tcPr marL="86390" marR="86390" marT="43195" marB="43195" anchor="ctr">
                    <a:lnL>
                      <a:noFill/>
                    </a:lnL>
                    <a:lnR>
                      <a:noFill/>
                    </a:lnR>
                    <a:lnT>
                      <a:noFill/>
                    </a:lnT>
                    <a:lnB>
                      <a:noFill/>
                    </a:lnB>
                    <a:noFill/>
                  </a:tcPr>
                </a:tc>
                <a:tc>
                  <a:txBody>
                    <a:bodyPr/>
                    <a:lstStyle/>
                    <a:p>
                      <a:pPr>
                        <a:buNone/>
                      </a:pPr>
                      <a:r>
                        <a:rPr lang="en-IN" sz="1300"/>
                        <a:t>Year</a:t>
                      </a:r>
                    </a:p>
                  </a:txBody>
                  <a:tcPr marL="86390" marR="86390" marT="43195" marB="43195" anchor="ctr">
                    <a:lnL>
                      <a:noFill/>
                    </a:lnL>
                    <a:lnR>
                      <a:noFill/>
                    </a:lnR>
                    <a:lnT>
                      <a:noFill/>
                    </a:lnT>
                    <a:lnB>
                      <a:noFill/>
                    </a:lnB>
                    <a:noFill/>
                  </a:tcPr>
                </a:tc>
                <a:tc>
                  <a:txBody>
                    <a:bodyPr/>
                    <a:lstStyle/>
                    <a:p>
                      <a:pPr>
                        <a:buNone/>
                      </a:pPr>
                      <a:r>
                        <a:rPr lang="en-IN" sz="1300"/>
                        <a:t>Advantages</a:t>
                      </a:r>
                    </a:p>
                  </a:txBody>
                  <a:tcPr marL="86390" marR="86390" marT="43195" marB="43195" anchor="ctr">
                    <a:lnL>
                      <a:noFill/>
                    </a:lnL>
                    <a:lnR>
                      <a:noFill/>
                    </a:lnR>
                    <a:lnT>
                      <a:noFill/>
                    </a:lnT>
                    <a:lnB>
                      <a:noFill/>
                    </a:lnB>
                    <a:noFill/>
                  </a:tcPr>
                </a:tc>
                <a:tc>
                  <a:txBody>
                    <a:bodyPr/>
                    <a:lstStyle/>
                    <a:p>
                      <a:pPr>
                        <a:buNone/>
                      </a:pPr>
                      <a:r>
                        <a:rPr lang="en-IN" sz="1300"/>
                        <a:t>Disadvantages</a:t>
                      </a:r>
                    </a:p>
                  </a:txBody>
                  <a:tcPr marL="86390" marR="86390" marT="43195" marB="43195" anchor="ctr">
                    <a:lnL>
                      <a:noFill/>
                    </a:lnL>
                    <a:lnR>
                      <a:noFill/>
                    </a:lnR>
                    <a:lnT>
                      <a:noFill/>
                    </a:lnT>
                    <a:lnB>
                      <a:noFill/>
                    </a:lnB>
                    <a:noFill/>
                  </a:tcPr>
                </a:tc>
                <a:extLst>
                  <a:ext uri="{0D108BD9-81ED-4DB2-BD59-A6C34878D82A}">
                    <a16:rowId xmlns:a16="http://schemas.microsoft.com/office/drawing/2014/main" val="676200780"/>
                  </a:ext>
                </a:extLst>
              </a:tr>
              <a:tr h="892692">
                <a:tc>
                  <a:txBody>
                    <a:bodyPr/>
                    <a:lstStyle/>
                    <a:p>
                      <a:pPr>
                        <a:buNone/>
                      </a:pPr>
                      <a:r>
                        <a:rPr lang="en-IN" sz="1300"/>
                        <a:t>6</a:t>
                      </a:r>
                    </a:p>
                  </a:txBody>
                  <a:tcPr marL="86390" marR="86390" marT="43195" marB="43195" anchor="ctr">
                    <a:lnL>
                      <a:noFill/>
                    </a:lnL>
                    <a:lnR>
                      <a:noFill/>
                    </a:lnR>
                    <a:lnT>
                      <a:noFill/>
                    </a:lnT>
                    <a:lnB>
                      <a:noFill/>
                    </a:lnB>
                    <a:noFill/>
                  </a:tcPr>
                </a:tc>
                <a:tc>
                  <a:txBody>
                    <a:bodyPr/>
                    <a:lstStyle/>
                    <a:p>
                      <a:pPr>
                        <a:buNone/>
                      </a:pPr>
                      <a:r>
                        <a:rPr lang="en-US" sz="1300"/>
                        <a:t>mHealth Interventions in Low-Resource Settings</a:t>
                      </a:r>
                    </a:p>
                  </a:txBody>
                  <a:tcPr marL="86390" marR="86390" marT="43195" marB="43195" anchor="ctr">
                    <a:lnL>
                      <a:noFill/>
                    </a:lnL>
                    <a:lnR>
                      <a:noFill/>
                    </a:lnR>
                    <a:lnT>
                      <a:noFill/>
                    </a:lnT>
                    <a:lnB>
                      <a:noFill/>
                    </a:lnB>
                    <a:noFill/>
                  </a:tcPr>
                </a:tc>
                <a:tc>
                  <a:txBody>
                    <a:bodyPr/>
                    <a:lstStyle/>
                    <a:p>
                      <a:pPr>
                        <a:buNone/>
                      </a:pPr>
                      <a:r>
                        <a:rPr lang="en-US" sz="1300"/>
                        <a:t>S. Agarwal, L. LeFevre, S. Lee</a:t>
                      </a:r>
                    </a:p>
                  </a:txBody>
                  <a:tcPr marL="86390" marR="86390" marT="43195" marB="43195" anchor="ctr">
                    <a:lnL>
                      <a:noFill/>
                    </a:lnL>
                    <a:lnR>
                      <a:noFill/>
                    </a:lnR>
                    <a:lnT>
                      <a:noFill/>
                    </a:lnT>
                    <a:lnB>
                      <a:noFill/>
                    </a:lnB>
                    <a:noFill/>
                  </a:tcPr>
                </a:tc>
                <a:tc>
                  <a:txBody>
                    <a:bodyPr/>
                    <a:lstStyle/>
                    <a:p>
                      <a:pPr>
                        <a:buNone/>
                      </a:pPr>
                      <a:r>
                        <a:rPr lang="en-IN" sz="1300"/>
                        <a:t>2019</a:t>
                      </a:r>
                    </a:p>
                  </a:txBody>
                  <a:tcPr marL="86390" marR="86390" marT="43195" marB="43195" anchor="ctr">
                    <a:lnL>
                      <a:noFill/>
                    </a:lnL>
                    <a:lnR>
                      <a:noFill/>
                    </a:lnR>
                    <a:lnT>
                      <a:noFill/>
                    </a:lnT>
                    <a:lnB>
                      <a:noFill/>
                    </a:lnB>
                    <a:noFill/>
                  </a:tcPr>
                </a:tc>
                <a:tc>
                  <a:txBody>
                    <a:bodyPr/>
                    <a:lstStyle/>
                    <a:p>
                      <a:pPr>
                        <a:buNone/>
                      </a:pPr>
                      <a:r>
                        <a:rPr lang="en-US" sz="1300"/>
                        <a:t>Demonstrates mHealth success in rural communities</a:t>
                      </a:r>
                    </a:p>
                  </a:txBody>
                  <a:tcPr marL="86390" marR="86390" marT="43195" marB="43195" anchor="ctr">
                    <a:lnL>
                      <a:noFill/>
                    </a:lnL>
                    <a:lnR>
                      <a:noFill/>
                    </a:lnR>
                    <a:lnT>
                      <a:noFill/>
                    </a:lnT>
                    <a:lnB>
                      <a:noFill/>
                    </a:lnB>
                    <a:noFill/>
                  </a:tcPr>
                </a:tc>
                <a:tc>
                  <a:txBody>
                    <a:bodyPr/>
                    <a:lstStyle/>
                    <a:p>
                      <a:pPr>
                        <a:buNone/>
                      </a:pPr>
                      <a:r>
                        <a:rPr lang="en-US" sz="1300"/>
                        <a:t>Limited scalability; specific to case studies</a:t>
                      </a:r>
                    </a:p>
                  </a:txBody>
                  <a:tcPr marL="86390" marR="86390" marT="43195" marB="43195" anchor="ctr">
                    <a:lnL>
                      <a:noFill/>
                    </a:lnL>
                    <a:lnR>
                      <a:noFill/>
                    </a:lnR>
                    <a:lnT>
                      <a:noFill/>
                    </a:lnT>
                    <a:lnB>
                      <a:noFill/>
                    </a:lnB>
                    <a:noFill/>
                  </a:tcPr>
                </a:tc>
                <a:extLst>
                  <a:ext uri="{0D108BD9-81ED-4DB2-BD59-A6C34878D82A}">
                    <a16:rowId xmlns:a16="http://schemas.microsoft.com/office/drawing/2014/main" val="1888251933"/>
                  </a:ext>
                </a:extLst>
              </a:tr>
              <a:tr h="892692">
                <a:tc>
                  <a:txBody>
                    <a:bodyPr/>
                    <a:lstStyle/>
                    <a:p>
                      <a:pPr>
                        <a:buNone/>
                      </a:pPr>
                      <a:r>
                        <a:rPr lang="en-IN" sz="1300"/>
                        <a:t>7</a:t>
                      </a:r>
                    </a:p>
                  </a:txBody>
                  <a:tcPr marL="86390" marR="86390" marT="43195" marB="43195" anchor="ctr">
                    <a:lnL>
                      <a:noFill/>
                    </a:lnL>
                    <a:lnR>
                      <a:noFill/>
                    </a:lnR>
                    <a:lnT>
                      <a:noFill/>
                    </a:lnT>
                    <a:lnB>
                      <a:noFill/>
                    </a:lnB>
                    <a:noFill/>
                  </a:tcPr>
                </a:tc>
                <a:tc>
                  <a:txBody>
                    <a:bodyPr/>
                    <a:lstStyle/>
                    <a:p>
                      <a:pPr>
                        <a:buNone/>
                      </a:pPr>
                      <a:r>
                        <a:rPr lang="en-US" sz="1300"/>
                        <a:t>mHealth for Aging Populations: A Review</a:t>
                      </a:r>
                    </a:p>
                  </a:txBody>
                  <a:tcPr marL="86390" marR="86390" marT="43195" marB="43195" anchor="ctr">
                    <a:lnL>
                      <a:noFill/>
                    </a:lnL>
                    <a:lnR>
                      <a:noFill/>
                    </a:lnR>
                    <a:lnT>
                      <a:noFill/>
                    </a:lnT>
                    <a:lnB>
                      <a:noFill/>
                    </a:lnB>
                    <a:noFill/>
                  </a:tcPr>
                </a:tc>
                <a:tc>
                  <a:txBody>
                    <a:bodyPr/>
                    <a:lstStyle/>
                    <a:p>
                      <a:pPr>
                        <a:buNone/>
                      </a:pPr>
                      <a:r>
                        <a:rPr lang="en-IN" sz="1300"/>
                        <a:t>D. Boulos, N. Yang</a:t>
                      </a:r>
                    </a:p>
                  </a:txBody>
                  <a:tcPr marL="86390" marR="86390" marT="43195" marB="43195" anchor="ctr">
                    <a:lnL>
                      <a:noFill/>
                    </a:lnL>
                    <a:lnR>
                      <a:noFill/>
                    </a:lnR>
                    <a:lnT>
                      <a:noFill/>
                    </a:lnT>
                    <a:lnB>
                      <a:noFill/>
                    </a:lnB>
                    <a:noFill/>
                  </a:tcPr>
                </a:tc>
                <a:tc>
                  <a:txBody>
                    <a:bodyPr/>
                    <a:lstStyle/>
                    <a:p>
                      <a:pPr>
                        <a:buNone/>
                      </a:pPr>
                      <a:r>
                        <a:rPr lang="en-IN" sz="1300"/>
                        <a:t>2015</a:t>
                      </a:r>
                    </a:p>
                  </a:txBody>
                  <a:tcPr marL="86390" marR="86390" marT="43195" marB="43195" anchor="ctr">
                    <a:lnL>
                      <a:noFill/>
                    </a:lnL>
                    <a:lnR>
                      <a:noFill/>
                    </a:lnR>
                    <a:lnT>
                      <a:noFill/>
                    </a:lnT>
                    <a:lnB>
                      <a:noFill/>
                    </a:lnB>
                    <a:noFill/>
                  </a:tcPr>
                </a:tc>
                <a:tc>
                  <a:txBody>
                    <a:bodyPr/>
                    <a:lstStyle/>
                    <a:p>
                      <a:pPr>
                        <a:buNone/>
                      </a:pPr>
                      <a:r>
                        <a:rPr lang="en-US" sz="1300"/>
                        <a:t>Focus on elderly adoption; identifies accessibility barriers</a:t>
                      </a:r>
                    </a:p>
                  </a:txBody>
                  <a:tcPr marL="86390" marR="86390" marT="43195" marB="43195" anchor="ctr">
                    <a:lnL>
                      <a:noFill/>
                    </a:lnL>
                    <a:lnR>
                      <a:noFill/>
                    </a:lnR>
                    <a:lnT>
                      <a:noFill/>
                    </a:lnT>
                    <a:lnB>
                      <a:noFill/>
                    </a:lnB>
                    <a:noFill/>
                  </a:tcPr>
                </a:tc>
                <a:tc>
                  <a:txBody>
                    <a:bodyPr/>
                    <a:lstStyle/>
                    <a:p>
                      <a:pPr>
                        <a:buNone/>
                      </a:pPr>
                      <a:r>
                        <a:rPr lang="en-US" sz="1300"/>
                        <a:t>Mostly conceptual review; no full solutions</a:t>
                      </a:r>
                    </a:p>
                  </a:txBody>
                  <a:tcPr marL="86390" marR="86390" marT="43195" marB="43195" anchor="ctr">
                    <a:lnL>
                      <a:noFill/>
                    </a:lnL>
                    <a:lnR>
                      <a:noFill/>
                    </a:lnR>
                    <a:lnT>
                      <a:noFill/>
                    </a:lnT>
                    <a:lnB>
                      <a:noFill/>
                    </a:lnB>
                    <a:noFill/>
                  </a:tcPr>
                </a:tc>
                <a:extLst>
                  <a:ext uri="{0D108BD9-81ED-4DB2-BD59-A6C34878D82A}">
                    <a16:rowId xmlns:a16="http://schemas.microsoft.com/office/drawing/2014/main" val="3730773307"/>
                  </a:ext>
                </a:extLst>
              </a:tr>
              <a:tr h="1094267">
                <a:tc>
                  <a:txBody>
                    <a:bodyPr/>
                    <a:lstStyle/>
                    <a:p>
                      <a:pPr>
                        <a:buNone/>
                      </a:pPr>
                      <a:r>
                        <a:rPr lang="en-IN" sz="1300"/>
                        <a:t>8</a:t>
                      </a:r>
                    </a:p>
                  </a:txBody>
                  <a:tcPr marL="86390" marR="86390" marT="43195" marB="43195" anchor="ctr">
                    <a:lnL>
                      <a:noFill/>
                    </a:lnL>
                    <a:lnR>
                      <a:noFill/>
                    </a:lnR>
                    <a:lnT>
                      <a:noFill/>
                    </a:lnT>
                    <a:lnB>
                      <a:noFill/>
                    </a:lnB>
                    <a:noFill/>
                  </a:tcPr>
                </a:tc>
                <a:tc>
                  <a:txBody>
                    <a:bodyPr/>
                    <a:lstStyle/>
                    <a:p>
                      <a:pPr>
                        <a:buNone/>
                      </a:pPr>
                      <a:r>
                        <a:rPr lang="en-US" sz="1300"/>
                        <a:t>mHealth for Chronic Disease Management in Developing Countries</a:t>
                      </a:r>
                    </a:p>
                  </a:txBody>
                  <a:tcPr marL="86390" marR="86390" marT="43195" marB="43195" anchor="ctr">
                    <a:lnL>
                      <a:noFill/>
                    </a:lnL>
                    <a:lnR>
                      <a:noFill/>
                    </a:lnR>
                    <a:lnT>
                      <a:noFill/>
                    </a:lnT>
                    <a:lnB>
                      <a:noFill/>
                    </a:lnB>
                    <a:noFill/>
                  </a:tcPr>
                </a:tc>
                <a:tc>
                  <a:txBody>
                    <a:bodyPr/>
                    <a:lstStyle/>
                    <a:p>
                      <a:pPr>
                        <a:buNone/>
                      </a:pPr>
                      <a:r>
                        <a:rPr lang="pt-BR" sz="1300"/>
                        <a:t>D. Aranda-Jan, N. Mohutsiwa-Dibe, S. Loukanova</a:t>
                      </a:r>
                    </a:p>
                  </a:txBody>
                  <a:tcPr marL="86390" marR="86390" marT="43195" marB="43195" anchor="ctr">
                    <a:lnL>
                      <a:noFill/>
                    </a:lnL>
                    <a:lnR>
                      <a:noFill/>
                    </a:lnR>
                    <a:lnT>
                      <a:noFill/>
                    </a:lnT>
                    <a:lnB>
                      <a:noFill/>
                    </a:lnB>
                    <a:noFill/>
                  </a:tcPr>
                </a:tc>
                <a:tc>
                  <a:txBody>
                    <a:bodyPr/>
                    <a:lstStyle/>
                    <a:p>
                      <a:pPr>
                        <a:buNone/>
                      </a:pPr>
                      <a:r>
                        <a:rPr lang="en-IN" sz="1300"/>
                        <a:t>2014</a:t>
                      </a:r>
                    </a:p>
                  </a:txBody>
                  <a:tcPr marL="86390" marR="86390" marT="43195" marB="43195" anchor="ctr">
                    <a:lnL>
                      <a:noFill/>
                    </a:lnL>
                    <a:lnR>
                      <a:noFill/>
                    </a:lnR>
                    <a:lnT>
                      <a:noFill/>
                    </a:lnT>
                    <a:lnB>
                      <a:noFill/>
                    </a:lnB>
                    <a:noFill/>
                  </a:tcPr>
                </a:tc>
                <a:tc>
                  <a:txBody>
                    <a:bodyPr/>
                    <a:lstStyle/>
                    <a:p>
                      <a:pPr>
                        <a:buNone/>
                      </a:pPr>
                      <a:r>
                        <a:rPr lang="en-US" sz="1300"/>
                        <a:t>Reviews chronic disease interventions; highlights benefits</a:t>
                      </a:r>
                    </a:p>
                  </a:txBody>
                  <a:tcPr marL="86390" marR="86390" marT="43195" marB="43195" anchor="ctr">
                    <a:lnL>
                      <a:noFill/>
                    </a:lnL>
                    <a:lnR>
                      <a:noFill/>
                    </a:lnR>
                    <a:lnT>
                      <a:noFill/>
                    </a:lnT>
                    <a:lnB>
                      <a:noFill/>
                    </a:lnB>
                    <a:noFill/>
                  </a:tcPr>
                </a:tc>
                <a:tc>
                  <a:txBody>
                    <a:bodyPr/>
                    <a:lstStyle/>
                    <a:p>
                      <a:pPr>
                        <a:buNone/>
                      </a:pPr>
                      <a:r>
                        <a:rPr lang="en-US" sz="1300"/>
                        <a:t>Connectivity dependence; limited offline access</a:t>
                      </a:r>
                    </a:p>
                  </a:txBody>
                  <a:tcPr marL="86390" marR="86390" marT="43195" marB="43195" anchor="ctr">
                    <a:lnL>
                      <a:noFill/>
                    </a:lnL>
                    <a:lnR>
                      <a:noFill/>
                    </a:lnR>
                    <a:lnT>
                      <a:noFill/>
                    </a:lnT>
                    <a:lnB>
                      <a:noFill/>
                    </a:lnB>
                    <a:noFill/>
                  </a:tcPr>
                </a:tc>
                <a:extLst>
                  <a:ext uri="{0D108BD9-81ED-4DB2-BD59-A6C34878D82A}">
                    <a16:rowId xmlns:a16="http://schemas.microsoft.com/office/drawing/2014/main" val="3769244338"/>
                  </a:ext>
                </a:extLst>
              </a:tr>
              <a:tr h="892692">
                <a:tc>
                  <a:txBody>
                    <a:bodyPr/>
                    <a:lstStyle/>
                    <a:p>
                      <a:pPr>
                        <a:buNone/>
                      </a:pPr>
                      <a:r>
                        <a:rPr lang="en-IN" sz="1300"/>
                        <a:t>9</a:t>
                      </a:r>
                    </a:p>
                  </a:txBody>
                  <a:tcPr marL="86390" marR="86390" marT="43195" marB="43195" anchor="ctr">
                    <a:lnL>
                      <a:noFill/>
                    </a:lnL>
                    <a:lnR>
                      <a:noFill/>
                    </a:lnR>
                    <a:lnT>
                      <a:noFill/>
                    </a:lnT>
                    <a:lnB>
                      <a:noFill/>
                    </a:lnB>
                    <a:noFill/>
                  </a:tcPr>
                </a:tc>
                <a:tc>
                  <a:txBody>
                    <a:bodyPr/>
                    <a:lstStyle/>
                    <a:p>
                      <a:pPr>
                        <a:buNone/>
                      </a:pPr>
                      <a:r>
                        <a:rPr lang="en-US" sz="1300"/>
                        <a:t>Digital Health for Rural Communities: Opportunities &amp; Challenges</a:t>
                      </a:r>
                    </a:p>
                  </a:txBody>
                  <a:tcPr marL="86390" marR="86390" marT="43195" marB="43195" anchor="ctr">
                    <a:lnL>
                      <a:noFill/>
                    </a:lnL>
                    <a:lnR>
                      <a:noFill/>
                    </a:lnR>
                    <a:lnT>
                      <a:noFill/>
                    </a:lnT>
                    <a:lnB>
                      <a:noFill/>
                    </a:lnB>
                    <a:noFill/>
                  </a:tcPr>
                </a:tc>
                <a:tc>
                  <a:txBody>
                    <a:bodyPr/>
                    <a:lstStyle/>
                    <a:p>
                      <a:pPr>
                        <a:buNone/>
                      </a:pPr>
                      <a:r>
                        <a:rPr lang="en-IN" sz="1300"/>
                        <a:t>A. J. Hall, S. R. Smith, L. S. Baker</a:t>
                      </a:r>
                    </a:p>
                  </a:txBody>
                  <a:tcPr marL="86390" marR="86390" marT="43195" marB="43195" anchor="ctr">
                    <a:lnL>
                      <a:noFill/>
                    </a:lnL>
                    <a:lnR>
                      <a:noFill/>
                    </a:lnR>
                    <a:lnT>
                      <a:noFill/>
                    </a:lnT>
                    <a:lnB>
                      <a:noFill/>
                    </a:lnB>
                    <a:noFill/>
                  </a:tcPr>
                </a:tc>
                <a:tc>
                  <a:txBody>
                    <a:bodyPr/>
                    <a:lstStyle/>
                    <a:p>
                      <a:pPr>
                        <a:buNone/>
                      </a:pPr>
                      <a:r>
                        <a:rPr lang="en-IN" sz="1300"/>
                        <a:t>2020</a:t>
                      </a:r>
                    </a:p>
                  </a:txBody>
                  <a:tcPr marL="86390" marR="86390" marT="43195" marB="43195" anchor="ctr">
                    <a:lnL>
                      <a:noFill/>
                    </a:lnL>
                    <a:lnR>
                      <a:noFill/>
                    </a:lnR>
                    <a:lnT>
                      <a:noFill/>
                    </a:lnT>
                    <a:lnB>
                      <a:noFill/>
                    </a:lnB>
                    <a:noFill/>
                  </a:tcPr>
                </a:tc>
                <a:tc>
                  <a:txBody>
                    <a:bodyPr/>
                    <a:lstStyle/>
                    <a:p>
                      <a:pPr>
                        <a:buNone/>
                      </a:pPr>
                      <a:r>
                        <a:rPr lang="en-US" sz="1300"/>
                        <a:t>Identifies rural digital health gaps; practical insights</a:t>
                      </a:r>
                    </a:p>
                  </a:txBody>
                  <a:tcPr marL="86390" marR="86390" marT="43195" marB="43195" anchor="ctr">
                    <a:lnL>
                      <a:noFill/>
                    </a:lnL>
                    <a:lnR>
                      <a:noFill/>
                    </a:lnR>
                    <a:lnT>
                      <a:noFill/>
                    </a:lnT>
                    <a:lnB>
                      <a:noFill/>
                    </a:lnB>
                    <a:noFill/>
                  </a:tcPr>
                </a:tc>
                <a:tc>
                  <a:txBody>
                    <a:bodyPr/>
                    <a:lstStyle/>
                    <a:p>
                      <a:pPr>
                        <a:buNone/>
                      </a:pPr>
                      <a:r>
                        <a:rPr lang="en-IN" sz="1300"/>
                        <a:t>General discussion; lacks implementation details</a:t>
                      </a:r>
                    </a:p>
                  </a:txBody>
                  <a:tcPr marL="86390" marR="86390" marT="43195" marB="43195" anchor="ctr">
                    <a:lnL>
                      <a:noFill/>
                    </a:lnL>
                    <a:lnR>
                      <a:noFill/>
                    </a:lnR>
                    <a:lnT>
                      <a:noFill/>
                    </a:lnT>
                    <a:lnB>
                      <a:noFill/>
                    </a:lnB>
                    <a:noFill/>
                  </a:tcPr>
                </a:tc>
                <a:extLst>
                  <a:ext uri="{0D108BD9-81ED-4DB2-BD59-A6C34878D82A}">
                    <a16:rowId xmlns:a16="http://schemas.microsoft.com/office/drawing/2014/main" val="826135626"/>
                  </a:ext>
                </a:extLst>
              </a:tr>
              <a:tr h="892692">
                <a:tc>
                  <a:txBody>
                    <a:bodyPr/>
                    <a:lstStyle/>
                    <a:p>
                      <a:pPr>
                        <a:buNone/>
                      </a:pPr>
                      <a:r>
                        <a:rPr lang="en-IN" sz="1300"/>
                        <a:t>10</a:t>
                      </a:r>
                    </a:p>
                  </a:txBody>
                  <a:tcPr marL="86390" marR="86390" marT="43195" marB="43195" anchor="ctr">
                    <a:lnL>
                      <a:noFill/>
                    </a:lnL>
                    <a:lnR>
                      <a:noFill/>
                    </a:lnR>
                    <a:lnT>
                      <a:noFill/>
                    </a:lnT>
                    <a:lnB>
                      <a:noFill/>
                    </a:lnB>
                    <a:noFill/>
                  </a:tcPr>
                </a:tc>
                <a:tc>
                  <a:txBody>
                    <a:bodyPr/>
                    <a:lstStyle/>
                    <a:p>
                      <a:pPr>
                        <a:buNone/>
                      </a:pPr>
                      <a:r>
                        <a:rPr lang="en-US" sz="1300"/>
                        <a:t>Assistive Technologies in mHealth for Elderly Care</a:t>
                      </a:r>
                    </a:p>
                  </a:txBody>
                  <a:tcPr marL="86390" marR="86390" marT="43195" marB="43195" anchor="ctr">
                    <a:lnL>
                      <a:noFill/>
                    </a:lnL>
                    <a:lnR>
                      <a:noFill/>
                    </a:lnR>
                    <a:lnT>
                      <a:noFill/>
                    </a:lnT>
                    <a:lnB>
                      <a:noFill/>
                    </a:lnB>
                    <a:noFill/>
                  </a:tcPr>
                </a:tc>
                <a:tc>
                  <a:txBody>
                    <a:bodyPr/>
                    <a:lstStyle/>
                    <a:p>
                      <a:pPr>
                        <a:buNone/>
                      </a:pPr>
                      <a:r>
                        <a:rPr lang="en-IN" sz="1300"/>
                        <a:t>P. Marasinghe</a:t>
                      </a:r>
                    </a:p>
                  </a:txBody>
                  <a:tcPr marL="86390" marR="86390" marT="43195" marB="43195" anchor="ctr">
                    <a:lnL>
                      <a:noFill/>
                    </a:lnL>
                    <a:lnR>
                      <a:noFill/>
                    </a:lnR>
                    <a:lnT>
                      <a:noFill/>
                    </a:lnT>
                    <a:lnB>
                      <a:noFill/>
                    </a:lnB>
                    <a:noFill/>
                  </a:tcPr>
                </a:tc>
                <a:tc>
                  <a:txBody>
                    <a:bodyPr/>
                    <a:lstStyle/>
                    <a:p>
                      <a:pPr>
                        <a:buNone/>
                      </a:pPr>
                      <a:r>
                        <a:rPr lang="en-IN" sz="1300"/>
                        <a:t>2020</a:t>
                      </a:r>
                    </a:p>
                  </a:txBody>
                  <a:tcPr marL="86390" marR="86390" marT="43195" marB="43195" anchor="ctr">
                    <a:lnL>
                      <a:noFill/>
                    </a:lnL>
                    <a:lnR>
                      <a:noFill/>
                    </a:lnR>
                    <a:lnT>
                      <a:noFill/>
                    </a:lnT>
                    <a:lnB>
                      <a:noFill/>
                    </a:lnB>
                    <a:noFill/>
                  </a:tcPr>
                </a:tc>
                <a:tc>
                  <a:txBody>
                    <a:bodyPr/>
                    <a:lstStyle/>
                    <a:p>
                      <a:pPr>
                        <a:buNone/>
                      </a:pPr>
                      <a:r>
                        <a:rPr lang="en-US" sz="1300"/>
                        <a:t>Reviews assistive tech for elderly; accessibility-focused</a:t>
                      </a:r>
                    </a:p>
                  </a:txBody>
                  <a:tcPr marL="86390" marR="86390" marT="43195" marB="43195" anchor="ctr">
                    <a:lnL>
                      <a:noFill/>
                    </a:lnL>
                    <a:lnR>
                      <a:noFill/>
                    </a:lnR>
                    <a:lnT>
                      <a:noFill/>
                    </a:lnT>
                    <a:lnB>
                      <a:noFill/>
                    </a:lnB>
                    <a:noFill/>
                  </a:tcPr>
                </a:tc>
                <a:tc>
                  <a:txBody>
                    <a:bodyPr/>
                    <a:lstStyle/>
                    <a:p>
                      <a:pPr>
                        <a:buNone/>
                      </a:pPr>
                      <a:r>
                        <a:rPr lang="en-US" sz="1300" dirty="0"/>
                        <a:t>More theoretical; lacks large-scale testing</a:t>
                      </a:r>
                    </a:p>
                  </a:txBody>
                  <a:tcPr marL="86390" marR="86390" marT="43195" marB="43195" anchor="ctr">
                    <a:lnL>
                      <a:noFill/>
                    </a:lnL>
                    <a:lnR>
                      <a:noFill/>
                    </a:lnR>
                    <a:lnT>
                      <a:noFill/>
                    </a:lnT>
                    <a:lnB>
                      <a:noFill/>
                    </a:lnB>
                    <a:noFill/>
                  </a:tcPr>
                </a:tc>
                <a:extLst>
                  <a:ext uri="{0D108BD9-81ED-4DB2-BD59-A6C34878D82A}">
                    <a16:rowId xmlns:a16="http://schemas.microsoft.com/office/drawing/2014/main" val="329265100"/>
                  </a:ext>
                </a:extLst>
              </a:tr>
            </a:tbl>
          </a:graphicData>
        </a:graphic>
      </p:graphicFrame>
    </p:spTree>
    <p:extLst>
      <p:ext uri="{BB962C8B-B14F-4D97-AF65-F5344CB8AC3E}">
        <p14:creationId xmlns:p14="http://schemas.microsoft.com/office/powerpoint/2010/main" val="178511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Links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60400" y="12954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a:t>
            </a:r>
            <a:r>
              <a:rPr lang="en-US" b="1" dirty="0">
                <a:solidFill>
                  <a:srgbClr val="0070C0"/>
                </a:solidFill>
                <a:latin typeface="Cambria" panose="02040503050406030204" pitchFamily="18" charset="0"/>
                <a:ea typeface="Cambria" panose="02040503050406030204" pitchFamily="18" charset="0"/>
              </a:rPr>
              <a:t>https://github.com/manohara-s-1110/vital-vault.git</a:t>
            </a:r>
          </a:p>
          <a:p>
            <a:pPr marL="342900" indent="-190500" algn="just">
              <a:spcBef>
                <a:spcPts val="0"/>
              </a:spcBef>
              <a:buSzPct val="100000"/>
              <a:buFont typeface="Arial"/>
              <a:buNone/>
            </a:pPr>
            <a:endParaRPr lang="en-US" dirty="0">
              <a:solidFill>
                <a:srgbClr val="0070C0"/>
              </a:solidFill>
              <a:latin typeface="Cambria" panose="02040503050406030204" pitchFamily="18" charset="0"/>
              <a:ea typeface="Cambria" panose="02040503050406030204" pitchFamily="18" charset="0"/>
            </a:endParaRPr>
          </a:p>
          <a:p>
            <a:pPr marL="342900" indent="-190500">
              <a:lnSpc>
                <a:spcPct val="200000"/>
              </a:lnSpc>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 Figma Link: </a:t>
            </a:r>
            <a:r>
              <a:rPr lang="en-US" sz="2000" b="1" dirty="0">
                <a:solidFill>
                  <a:srgbClr val="0070C0"/>
                </a:solidFill>
                <a:latin typeface="Cambria" panose="02040503050406030204" pitchFamily="18" charset="0"/>
                <a:ea typeface="Cambria" panose="02040503050406030204" pitchFamily="18" charset="0"/>
              </a:rPr>
              <a:t>https://www.figma.com/design/MSM5UB5bnSRkfe5q7a2jD1/CapStone_project?node-id=1-2&amp;t=iVBhDrIzWhj0R1qc-1</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B994C-46FF-9223-A652-DFC9776B7A50}"/>
              </a:ext>
            </a:extLst>
          </p:cNvPr>
          <p:cNvSpPr>
            <a:spLocks noGrp="1"/>
          </p:cNvSpPr>
          <p:nvPr>
            <p:ph type="title"/>
          </p:nvPr>
        </p:nvSpPr>
        <p:spPr/>
        <p:txBody>
          <a:bodyPr/>
          <a:lstStyle/>
          <a:p>
            <a:r>
              <a:rPr lang="en-IN" dirty="0"/>
              <a:t>Existing Methods &amp; Drawbacks</a:t>
            </a:r>
          </a:p>
        </p:txBody>
      </p:sp>
      <p:sp>
        <p:nvSpPr>
          <p:cNvPr id="3" name="Text Placeholder 2">
            <a:extLst>
              <a:ext uri="{FF2B5EF4-FFF2-40B4-BE49-F238E27FC236}">
                <a16:creationId xmlns:a16="http://schemas.microsoft.com/office/drawing/2014/main" id="{DF91E1D7-3F09-76BC-2789-A81ABB45F1C4}"/>
              </a:ext>
            </a:extLst>
          </p:cNvPr>
          <p:cNvSpPr>
            <a:spLocks noGrp="1"/>
          </p:cNvSpPr>
          <p:nvPr>
            <p:ph type="body" idx="1"/>
          </p:nvPr>
        </p:nvSpPr>
        <p:spPr/>
        <p:txBody>
          <a:bodyPr>
            <a:normAutofit fontScale="85000" lnSpcReduction="20000"/>
          </a:bodyPr>
          <a:lstStyle/>
          <a:p>
            <a:pPr marL="533400" indent="-457200">
              <a:buFont typeface="+mj-lt"/>
              <a:buAutoNum type="arabicPeriod"/>
            </a:pPr>
            <a:r>
              <a:rPr lang="en-US" b="1" dirty="0"/>
              <a:t>Paper-based medical records</a:t>
            </a:r>
            <a:endParaRPr lang="en-US" dirty="0"/>
          </a:p>
          <a:p>
            <a:pPr lvl="1"/>
            <a:r>
              <a:rPr lang="en-US" dirty="0"/>
              <a:t>Easily lost, damaged, or inaccessible.</a:t>
            </a:r>
          </a:p>
          <a:p>
            <a:pPr lvl="1"/>
            <a:r>
              <a:rPr lang="en-US" dirty="0"/>
              <a:t>No central storage for multiple family members.</a:t>
            </a:r>
          </a:p>
          <a:p>
            <a:pPr marL="533400" indent="-457200">
              <a:buFont typeface="+mj-lt"/>
              <a:buAutoNum type="arabicPeriod"/>
            </a:pPr>
            <a:r>
              <a:rPr lang="en-US" b="1" dirty="0"/>
              <a:t>Standalone mHealth Apps (Fitbit, Google Fit, etc.)</a:t>
            </a:r>
            <a:endParaRPr lang="en-US" dirty="0"/>
          </a:p>
          <a:p>
            <a:pPr lvl="1"/>
            <a:r>
              <a:rPr lang="en-US" dirty="0"/>
              <a:t>Focus on fitness, not diagnostic reports.</a:t>
            </a:r>
          </a:p>
          <a:p>
            <a:pPr lvl="1"/>
            <a:r>
              <a:rPr lang="en-US" dirty="0"/>
              <a:t>Require tech literacy → not suitable for elderly.</a:t>
            </a:r>
          </a:p>
          <a:p>
            <a:pPr marL="533400" indent="-457200">
              <a:buFont typeface="+mj-lt"/>
              <a:buAutoNum type="arabicPeriod"/>
            </a:pPr>
            <a:r>
              <a:rPr lang="en-US" b="1" dirty="0"/>
              <a:t>Hospital-based EHR Systems</a:t>
            </a:r>
            <a:endParaRPr lang="en-US" dirty="0"/>
          </a:p>
          <a:p>
            <a:pPr lvl="1"/>
            <a:r>
              <a:rPr lang="en-US" dirty="0"/>
              <a:t>Restricted to specific hospitals.</a:t>
            </a:r>
          </a:p>
          <a:p>
            <a:pPr lvl="1"/>
            <a:r>
              <a:rPr lang="en-US" dirty="0"/>
              <a:t>Patients in rural areas cannot maintain continuity across clinics.</a:t>
            </a:r>
          </a:p>
          <a:p>
            <a:pPr marL="533400" indent="-457200">
              <a:buFont typeface="+mj-lt"/>
              <a:buAutoNum type="arabicPeriod"/>
            </a:pPr>
            <a:r>
              <a:rPr lang="en-US" b="1" dirty="0"/>
              <a:t>Telemedicine Solutions</a:t>
            </a:r>
            <a:endParaRPr lang="en-US" dirty="0"/>
          </a:p>
          <a:p>
            <a:pPr lvl="1"/>
            <a:r>
              <a:rPr lang="en-US" dirty="0"/>
              <a:t>Dependent on stable internet.</a:t>
            </a:r>
          </a:p>
          <a:p>
            <a:pPr lvl="1"/>
            <a:r>
              <a:rPr lang="en-US" dirty="0"/>
              <a:t>Limited offline support → not viable for rural settings.</a:t>
            </a:r>
          </a:p>
          <a:p>
            <a:pPr marL="533400" indent="-457200">
              <a:buFont typeface="+mj-lt"/>
              <a:buAutoNum type="arabicPeriod"/>
            </a:pPr>
            <a:r>
              <a:rPr lang="en-US" b="1" dirty="0"/>
              <a:t>Drawbacks Summary:</a:t>
            </a:r>
            <a:endParaRPr lang="en-US" dirty="0"/>
          </a:p>
          <a:p>
            <a:r>
              <a:rPr lang="en-US" dirty="0"/>
              <a:t>Lack of </a:t>
            </a:r>
            <a:r>
              <a:rPr lang="en-US" b="1" dirty="0"/>
              <a:t>family profile switching</a:t>
            </a:r>
            <a:endParaRPr lang="en-US" dirty="0"/>
          </a:p>
          <a:p>
            <a:r>
              <a:rPr lang="en-US" b="1" dirty="0"/>
              <a:t>Connectivity dependence</a:t>
            </a:r>
            <a:r>
              <a:rPr lang="en-US" dirty="0"/>
              <a:t> (no offline mode)</a:t>
            </a:r>
          </a:p>
          <a:p>
            <a:r>
              <a:rPr lang="en-US" dirty="0"/>
              <a:t>Elderly accessibility issues</a:t>
            </a:r>
          </a:p>
          <a:p>
            <a:r>
              <a:rPr lang="en-US" dirty="0"/>
              <a:t>Fragmented health data across systems</a:t>
            </a:r>
          </a:p>
          <a:p>
            <a:endParaRPr lang="en-IN" dirty="0"/>
          </a:p>
        </p:txBody>
      </p:sp>
    </p:spTree>
    <p:extLst>
      <p:ext uri="{BB962C8B-B14F-4D97-AF65-F5344CB8AC3E}">
        <p14:creationId xmlns:p14="http://schemas.microsoft.com/office/powerpoint/2010/main" val="2076998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04917-1BE7-3B8B-30A3-E269774A8AF6}"/>
              </a:ext>
            </a:extLst>
          </p:cNvPr>
          <p:cNvSpPr>
            <a:spLocks noGrp="1"/>
          </p:cNvSpPr>
          <p:nvPr>
            <p:ph type="title"/>
          </p:nvPr>
        </p:nvSpPr>
        <p:spPr>
          <a:xfrm>
            <a:off x="667512" y="716418"/>
            <a:ext cx="10813288" cy="45719"/>
          </a:xfrm>
        </p:spPr>
        <p:txBody>
          <a:bodyPr/>
          <a:lstStyle/>
          <a:p>
            <a:r>
              <a:rPr lang="en-IN" dirty="0"/>
              <a:t>Proposed Method &amp; Feasibility Study</a:t>
            </a:r>
            <a:br>
              <a:rPr lang="en-IN" dirty="0"/>
            </a:br>
            <a:endParaRPr lang="en-IN" dirty="0"/>
          </a:p>
        </p:txBody>
      </p:sp>
      <p:sp>
        <p:nvSpPr>
          <p:cNvPr id="3" name="Text Placeholder 2">
            <a:extLst>
              <a:ext uri="{FF2B5EF4-FFF2-40B4-BE49-F238E27FC236}">
                <a16:creationId xmlns:a16="http://schemas.microsoft.com/office/drawing/2014/main" id="{1FD7088A-DBD3-9235-1B87-A7D472396850}"/>
              </a:ext>
            </a:extLst>
          </p:cNvPr>
          <p:cNvSpPr>
            <a:spLocks noGrp="1"/>
          </p:cNvSpPr>
          <p:nvPr>
            <p:ph type="body" idx="1"/>
          </p:nvPr>
        </p:nvSpPr>
        <p:spPr/>
        <p:txBody>
          <a:bodyPr>
            <a:normAutofit fontScale="77500" lnSpcReduction="20000"/>
          </a:bodyPr>
          <a:lstStyle/>
          <a:p>
            <a:pPr>
              <a:buFont typeface="Wingdings" panose="05000000000000000000" pitchFamily="2" charset="2"/>
              <a:buChar char="Ø"/>
            </a:pPr>
            <a:r>
              <a:rPr lang="en-IN" b="1" dirty="0"/>
              <a:t>Proposed Solution:</a:t>
            </a:r>
            <a:endParaRPr lang="en-IN" dirty="0"/>
          </a:p>
          <a:p>
            <a:r>
              <a:rPr lang="en-IN" dirty="0"/>
              <a:t>A mobile-first, offline-enabled app (</a:t>
            </a:r>
            <a:r>
              <a:rPr lang="en-IN" i="1" dirty="0"/>
              <a:t>Health Vault</a:t>
            </a:r>
            <a:r>
              <a:rPr lang="en-IN" dirty="0"/>
              <a:t>) with:</a:t>
            </a:r>
          </a:p>
          <a:p>
            <a:pPr lvl="1"/>
            <a:r>
              <a:rPr lang="en-IN" b="1" dirty="0"/>
              <a:t>Multi-profile switching</a:t>
            </a:r>
            <a:r>
              <a:rPr lang="en-IN" dirty="0"/>
              <a:t> for families</a:t>
            </a:r>
          </a:p>
          <a:p>
            <a:pPr lvl="1"/>
            <a:r>
              <a:rPr lang="en-IN" b="1" dirty="0"/>
              <a:t>Secure cloud storage (Firebase)</a:t>
            </a:r>
            <a:r>
              <a:rPr lang="en-IN" dirty="0"/>
              <a:t> for reports</a:t>
            </a:r>
          </a:p>
          <a:p>
            <a:pPr lvl="1"/>
            <a:r>
              <a:rPr lang="en-IN" b="1" dirty="0"/>
              <a:t>Offline-first access</a:t>
            </a:r>
            <a:r>
              <a:rPr lang="en-IN" dirty="0"/>
              <a:t> with auto-sync</a:t>
            </a:r>
          </a:p>
          <a:p>
            <a:pPr lvl="1"/>
            <a:r>
              <a:rPr lang="en-IN" b="1" dirty="0"/>
              <a:t>Elder-friendly UI</a:t>
            </a:r>
            <a:r>
              <a:rPr lang="en-IN" dirty="0"/>
              <a:t> with icons &amp; minimal text</a:t>
            </a:r>
          </a:p>
          <a:p>
            <a:pPr lvl="1"/>
            <a:r>
              <a:rPr lang="en-IN" b="1" dirty="0"/>
              <a:t>Hospital integration module</a:t>
            </a:r>
            <a:r>
              <a:rPr lang="en-IN" dirty="0"/>
              <a:t> → share recent reports with nearby healthcare providers</a:t>
            </a:r>
          </a:p>
          <a:p>
            <a:pPr>
              <a:buFont typeface="Wingdings" panose="05000000000000000000" pitchFamily="2" charset="2"/>
              <a:buChar char="Ø"/>
            </a:pPr>
            <a:r>
              <a:rPr lang="en-IN" b="1" dirty="0"/>
              <a:t>Feasibility:</a:t>
            </a:r>
            <a:endParaRPr lang="en-IN" dirty="0"/>
          </a:p>
          <a:p>
            <a:r>
              <a:rPr lang="en-IN" b="1" dirty="0"/>
              <a:t>Technology Feasibility:</a:t>
            </a:r>
            <a:r>
              <a:rPr lang="en-IN" dirty="0"/>
              <a:t> Built using React Native (cross-platform), Firebase (easy backend), Node.js microservices → all widely adopted.</a:t>
            </a:r>
          </a:p>
          <a:p>
            <a:r>
              <a:rPr lang="en-IN" b="1" dirty="0"/>
              <a:t>Cost Feasibility:</a:t>
            </a:r>
            <a:r>
              <a:rPr lang="en-IN" dirty="0"/>
              <a:t> Leverages free-tier Firebase + scalable cloud options. Development costs limited to software.</a:t>
            </a:r>
          </a:p>
          <a:p>
            <a:r>
              <a:rPr lang="en-IN" b="1" dirty="0"/>
              <a:t>Resource Feasibility:</a:t>
            </a:r>
            <a:r>
              <a:rPr lang="en-IN" dirty="0"/>
              <a:t> Small dev team can implement core MVP within semester (frontend + backend + Firebase integration).</a:t>
            </a:r>
          </a:p>
          <a:p>
            <a:r>
              <a:rPr lang="en-IN" b="1" dirty="0"/>
              <a:t>Operational Feasibility:</a:t>
            </a:r>
            <a:r>
              <a:rPr lang="en-IN" dirty="0"/>
              <a:t> Easily deployable via Play Store. Designed for </a:t>
            </a:r>
            <a:r>
              <a:rPr lang="en-IN" b="1" dirty="0"/>
              <a:t>low digital literacy users</a:t>
            </a:r>
            <a:r>
              <a:rPr lang="en-IN" dirty="0"/>
              <a:t> (signs/icons, no language barrier).</a:t>
            </a:r>
          </a:p>
          <a:p>
            <a:r>
              <a:rPr lang="en-IN" b="1" dirty="0"/>
              <a:t>Scalability Feasibility:</a:t>
            </a:r>
            <a:r>
              <a:rPr lang="en-IN" dirty="0"/>
              <a:t> Later enhancements like AI-based report insights, wearable device integration.</a:t>
            </a:r>
          </a:p>
          <a:p>
            <a:endParaRPr lang="en-IN" dirty="0"/>
          </a:p>
        </p:txBody>
      </p:sp>
    </p:spTree>
    <p:extLst>
      <p:ext uri="{BB962C8B-B14F-4D97-AF65-F5344CB8AC3E}">
        <p14:creationId xmlns:p14="http://schemas.microsoft.com/office/powerpoint/2010/main" val="3669366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726BA-D007-BFFE-FAE9-5CFF800A6E55}"/>
              </a:ext>
            </a:extLst>
          </p:cNvPr>
          <p:cNvSpPr>
            <a:spLocks noGrp="1"/>
          </p:cNvSpPr>
          <p:nvPr>
            <p:ph type="title"/>
          </p:nvPr>
        </p:nvSpPr>
        <p:spPr/>
        <p:txBody>
          <a:bodyPr/>
          <a:lstStyle/>
          <a:p>
            <a:r>
              <a:rPr lang="en-US" dirty="0"/>
              <a:t>Modules</a:t>
            </a:r>
            <a:endParaRPr lang="en-IN" dirty="0"/>
          </a:p>
        </p:txBody>
      </p:sp>
      <p:sp>
        <p:nvSpPr>
          <p:cNvPr id="4" name="Rectangle 1">
            <a:extLst>
              <a:ext uri="{FF2B5EF4-FFF2-40B4-BE49-F238E27FC236}">
                <a16:creationId xmlns:a16="http://schemas.microsoft.com/office/drawing/2014/main" id="{DB294706-E1DD-3CDA-F10D-75B10565632A}"/>
              </a:ext>
            </a:extLst>
          </p:cNvPr>
          <p:cNvSpPr>
            <a:spLocks noGrp="1" noChangeArrowheads="1"/>
          </p:cNvSpPr>
          <p:nvPr>
            <p:ph type="body" idx="1"/>
          </p:nvPr>
        </p:nvSpPr>
        <p:spPr bwMode="auto">
          <a:xfrm>
            <a:off x="812800" y="879367"/>
            <a:ext cx="1042517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User Authentication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Secure login and signup using Firebase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Role-based access (family member, elder, healthcare provider).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Profile Management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 and manage multiple family health profiles.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Profile switching for younger members to manage elders’ records.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Health Record Management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Upload, store, and view diagnostic reports, prescriptions, and medical history.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Offline-first access with auto cloud sync.</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Notification &amp; Reminder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Medication reminders, appointment alerts, and follow-up notifications.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Push notifications via Firebase Cloud Messaging.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Nearby Hospitals &amp; Services Module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(new feature)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Locate hospitals/clinics using geolocation.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Share patient’s recent report securely with selected healthcare providers.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Emergency Access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Quick access to critical medical info from lock screen.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Contact info + emergency medical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8008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5C5E1-507B-4216-766E-17EA5047280B}"/>
              </a:ext>
            </a:extLst>
          </p:cNvPr>
          <p:cNvSpPr>
            <a:spLocks noGrp="1"/>
          </p:cNvSpPr>
          <p:nvPr>
            <p:ph type="title"/>
          </p:nvPr>
        </p:nvSpPr>
        <p:spPr>
          <a:xfrm>
            <a:off x="812800" y="274637"/>
            <a:ext cx="10909808" cy="868363"/>
          </a:xfrm>
        </p:spPr>
        <p:txBody>
          <a:bodyPr/>
          <a:lstStyle/>
          <a:p>
            <a:r>
              <a:rPr lang="en-IN" dirty="0"/>
              <a:t>Hardware &amp; Software Details</a:t>
            </a:r>
            <a:br>
              <a:rPr lang="en-IN" dirty="0"/>
            </a:br>
            <a:endParaRPr lang="en-IN" dirty="0"/>
          </a:p>
        </p:txBody>
      </p:sp>
      <p:sp>
        <p:nvSpPr>
          <p:cNvPr id="3" name="Text Placeholder 2">
            <a:extLst>
              <a:ext uri="{FF2B5EF4-FFF2-40B4-BE49-F238E27FC236}">
                <a16:creationId xmlns:a16="http://schemas.microsoft.com/office/drawing/2014/main" id="{8CFA716D-400C-B459-B950-125042E6E3C4}"/>
              </a:ext>
            </a:extLst>
          </p:cNvPr>
          <p:cNvSpPr>
            <a:spLocks noGrp="1"/>
          </p:cNvSpPr>
          <p:nvPr>
            <p:ph type="body" idx="1"/>
          </p:nvPr>
        </p:nvSpPr>
        <p:spPr/>
        <p:txBody>
          <a:bodyPr>
            <a:normAutofit fontScale="77500" lnSpcReduction="20000"/>
          </a:bodyPr>
          <a:lstStyle/>
          <a:p>
            <a:pPr marL="76200" indent="0">
              <a:buNone/>
            </a:pPr>
            <a:r>
              <a:rPr lang="en-IN" b="1" dirty="0"/>
              <a:t>Hardware Requirements:</a:t>
            </a:r>
          </a:p>
          <a:p>
            <a:r>
              <a:rPr lang="en-IN" b="1" dirty="0"/>
              <a:t>End Users:</a:t>
            </a:r>
            <a:endParaRPr lang="en-IN" dirty="0"/>
          </a:p>
          <a:p>
            <a:pPr lvl="1"/>
            <a:r>
              <a:rPr lang="en-IN" dirty="0"/>
              <a:t>Smartphone with Android 8.0 (Oreo) or higher</a:t>
            </a:r>
          </a:p>
          <a:p>
            <a:pPr lvl="1"/>
            <a:r>
              <a:rPr lang="en-IN" dirty="0"/>
              <a:t>Minimum 2 GB RAM, 16 GB storage</a:t>
            </a:r>
          </a:p>
          <a:p>
            <a:pPr lvl="1"/>
            <a:r>
              <a:rPr lang="en-IN" dirty="0"/>
              <a:t>GPS enabled for hospital locator</a:t>
            </a:r>
          </a:p>
          <a:p>
            <a:pPr marL="76200" indent="0">
              <a:buNone/>
            </a:pPr>
            <a:r>
              <a:rPr lang="en-IN" b="1" dirty="0"/>
              <a:t>Developer Environment:</a:t>
            </a:r>
            <a:endParaRPr lang="en-IN" dirty="0"/>
          </a:p>
          <a:p>
            <a:pPr lvl="1"/>
            <a:r>
              <a:rPr lang="en-IN" dirty="0"/>
              <a:t>Laptop/PC with 8 GB RAM, Node.js runtime, and emulator (Android Studio or Expo Go).</a:t>
            </a:r>
          </a:p>
          <a:p>
            <a:pPr marL="76200" indent="0">
              <a:buNone/>
            </a:pPr>
            <a:r>
              <a:rPr lang="en-IN" b="1" dirty="0"/>
              <a:t>Software Requirements:</a:t>
            </a:r>
          </a:p>
          <a:p>
            <a:r>
              <a:rPr lang="en-IN" b="1" dirty="0"/>
              <a:t>Frontend:</a:t>
            </a:r>
            <a:r>
              <a:rPr lang="en-IN" dirty="0"/>
              <a:t> React Native (Expo framework)</a:t>
            </a:r>
          </a:p>
          <a:p>
            <a:r>
              <a:rPr lang="en-IN" b="1" dirty="0"/>
              <a:t>Backend:</a:t>
            </a:r>
            <a:r>
              <a:rPr lang="en-IN" dirty="0"/>
              <a:t> Node.js (Express.js for APIs)</a:t>
            </a:r>
          </a:p>
          <a:p>
            <a:r>
              <a:rPr lang="en-IN" b="1" dirty="0"/>
              <a:t>Database:</a:t>
            </a:r>
            <a:r>
              <a:rPr lang="en-IN" dirty="0"/>
              <a:t> Firebase </a:t>
            </a:r>
            <a:r>
              <a:rPr lang="en-IN" dirty="0" err="1"/>
              <a:t>Firestore</a:t>
            </a:r>
            <a:r>
              <a:rPr lang="en-IN" dirty="0"/>
              <a:t> (NoSQL)</a:t>
            </a:r>
          </a:p>
          <a:p>
            <a:r>
              <a:rPr lang="en-IN" b="1" dirty="0"/>
              <a:t>Storage:</a:t>
            </a:r>
            <a:r>
              <a:rPr lang="en-IN" dirty="0"/>
              <a:t> Firebase Cloud Storage (for medical documents)</a:t>
            </a:r>
          </a:p>
          <a:p>
            <a:r>
              <a:rPr lang="en-IN" b="1" dirty="0"/>
              <a:t>Authentication:</a:t>
            </a:r>
            <a:r>
              <a:rPr lang="en-IN" dirty="0"/>
              <a:t> Firebase Authentication</a:t>
            </a:r>
          </a:p>
          <a:p>
            <a:r>
              <a:rPr lang="en-IN" b="1" dirty="0"/>
              <a:t>Push Notifications:</a:t>
            </a:r>
            <a:r>
              <a:rPr lang="en-IN" dirty="0"/>
              <a:t> Firebase Cloud Messaging (FCM)</a:t>
            </a:r>
          </a:p>
          <a:p>
            <a:r>
              <a:rPr lang="en-IN" b="1" dirty="0"/>
              <a:t>Maps &amp; Location:</a:t>
            </a:r>
            <a:r>
              <a:rPr lang="en-IN" dirty="0"/>
              <a:t> Google Maps API / OpenStreetMap</a:t>
            </a:r>
          </a:p>
          <a:p>
            <a:r>
              <a:rPr lang="en-IN" b="1" dirty="0"/>
              <a:t>Version Control:</a:t>
            </a:r>
            <a:r>
              <a:rPr lang="en-IN" dirty="0"/>
              <a:t> Git + GitHub</a:t>
            </a:r>
          </a:p>
          <a:p>
            <a:r>
              <a:rPr lang="en-IN" b="1" dirty="0"/>
              <a:t>IDE/Tools:</a:t>
            </a:r>
            <a:r>
              <a:rPr lang="en-IN" dirty="0"/>
              <a:t> VS Code, Expo CLI, Postman (API testing)</a:t>
            </a:r>
          </a:p>
          <a:p>
            <a:endParaRPr lang="en-IN" dirty="0"/>
          </a:p>
        </p:txBody>
      </p:sp>
    </p:spTree>
    <p:extLst>
      <p:ext uri="{BB962C8B-B14F-4D97-AF65-F5344CB8AC3E}">
        <p14:creationId xmlns:p14="http://schemas.microsoft.com/office/powerpoint/2010/main" val="411717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34E-3908-F948-B4E8-83B55B8506CF}"/>
              </a:ext>
            </a:extLst>
          </p:cNvPr>
          <p:cNvSpPr>
            <a:spLocks noGrp="1"/>
          </p:cNvSpPr>
          <p:nvPr>
            <p:ph type="title"/>
          </p:nvPr>
        </p:nvSpPr>
        <p:spPr/>
        <p:txBody>
          <a:bodyPr/>
          <a:lstStyle/>
          <a:p>
            <a:r>
              <a:rPr lang="en-US" dirty="0"/>
              <a:t>Architecture Diagram</a:t>
            </a:r>
            <a:endParaRPr lang="en-IN" dirty="0"/>
          </a:p>
        </p:txBody>
      </p:sp>
      <p:pic>
        <p:nvPicPr>
          <p:cNvPr id="9" name="Picture 8">
            <a:extLst>
              <a:ext uri="{FF2B5EF4-FFF2-40B4-BE49-F238E27FC236}">
                <a16:creationId xmlns:a16="http://schemas.microsoft.com/office/drawing/2014/main" id="{F05FA8CB-13DB-7CD5-D0F2-1D63A65ED193}"/>
              </a:ext>
            </a:extLst>
          </p:cNvPr>
          <p:cNvPicPr>
            <a:picLocks noChangeAspect="1"/>
          </p:cNvPicPr>
          <p:nvPr/>
        </p:nvPicPr>
        <p:blipFill>
          <a:blip r:embed="rId2"/>
          <a:srcRect t="30549" b="30474"/>
          <a:stretch>
            <a:fillRect/>
          </a:stretch>
        </p:blipFill>
        <p:spPr>
          <a:xfrm>
            <a:off x="270212" y="1481328"/>
            <a:ext cx="11290932" cy="3721608"/>
          </a:xfrm>
          <a:prstGeom prst="rect">
            <a:avLst/>
          </a:prstGeom>
        </p:spPr>
      </p:pic>
    </p:spTree>
    <p:extLst>
      <p:ext uri="{BB962C8B-B14F-4D97-AF65-F5344CB8AC3E}">
        <p14:creationId xmlns:p14="http://schemas.microsoft.com/office/powerpoint/2010/main" val="2240073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97811F6E-049D-10D9-F31C-29FF5F3A7C13}"/>
              </a:ext>
            </a:extLst>
          </p:cNvPr>
          <p:cNvPicPr>
            <a:picLocks noChangeAspect="1"/>
          </p:cNvPicPr>
          <p:nvPr/>
        </p:nvPicPr>
        <p:blipFill>
          <a:blip r:embed="rId3"/>
          <a:stretch>
            <a:fillRect/>
          </a:stretch>
        </p:blipFill>
        <p:spPr>
          <a:xfrm>
            <a:off x="1560568" y="1142995"/>
            <a:ext cx="7315215" cy="457200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218440" y="1069849"/>
            <a:ext cx="10668000" cy="4953000"/>
          </a:xfrm>
          <a:prstGeom prst="rect">
            <a:avLst/>
          </a:prstGeom>
          <a:noFill/>
          <a:ln>
            <a:noFill/>
          </a:ln>
        </p:spPr>
        <p:txBody>
          <a:bodyPr spcFirstLastPara="1" wrap="square" lIns="91425" tIns="45700" rIns="91425" bIns="45700" anchor="t" anchorCtr="0">
            <a:normAutofit fontScale="62500" lnSpcReduction="20000"/>
          </a:bodyPr>
          <a:lstStyle/>
          <a:p>
            <a:r>
              <a:rPr lang="en-IN" dirty="0"/>
              <a:t>1] Y. Yuan, J. Xu, J. Zhang, and G. Yu, "iCare: A Mobile Health Monitoring System for the Elderly," </a:t>
            </a:r>
            <a:r>
              <a:rPr lang="en-IN" i="1" dirty="0"/>
              <a:t>Proc. 2010 IEEE 3rd Int. Conf. Biomedical Engineering and Informatics (BMEI)</a:t>
            </a:r>
            <a:r>
              <a:rPr lang="en-IN" dirty="0"/>
              <a:t>, Yantai, China, Oct. 2010, pp. 1-5, </a:t>
            </a:r>
            <a:r>
              <a:rPr lang="en-IN" dirty="0" err="1"/>
              <a:t>doi</a:t>
            </a:r>
            <a:r>
              <a:rPr lang="en-IN" dirty="0"/>
              <a:t>: 10.1109/BMEI.2010.5639705.</a:t>
            </a:r>
          </a:p>
          <a:p>
            <a:endParaRPr lang="en-IN" dirty="0"/>
          </a:p>
          <a:p>
            <a:r>
              <a:rPr lang="en-IN" dirty="0"/>
              <a:t>[2] A. </a:t>
            </a:r>
            <a:r>
              <a:rPr lang="en-IN" dirty="0" err="1"/>
              <a:t>Vahdatpour</a:t>
            </a:r>
            <a:r>
              <a:rPr lang="en-IN" dirty="0"/>
              <a:t>, M. Amini, and M. </a:t>
            </a:r>
            <a:r>
              <a:rPr lang="en-IN" dirty="0" err="1"/>
              <a:t>Sarrafzadeh</a:t>
            </a:r>
            <a:r>
              <a:rPr lang="en-IN" dirty="0"/>
              <a:t>, "An Opportunistic mHealth Architecture for Remote Patient Monitoring," </a:t>
            </a:r>
            <a:r>
              <a:rPr lang="en-IN" i="1" dirty="0"/>
              <a:t>Proc. 20th Int. Workshop on Mobile Computing Systems and Applications (</a:t>
            </a:r>
            <a:r>
              <a:rPr lang="en-IN" i="1" dirty="0" err="1"/>
              <a:t>HotMobile</a:t>
            </a:r>
            <a:r>
              <a:rPr lang="en-IN" i="1" dirty="0"/>
              <a:t> '19)</a:t>
            </a:r>
            <a:r>
              <a:rPr lang="en-IN" dirty="0"/>
              <a:t>, Santa Cruz, CA, USA, Feb. 2019, pp. 57-62, </a:t>
            </a:r>
            <a:r>
              <a:rPr lang="en-IN" dirty="0" err="1"/>
              <a:t>doi</a:t>
            </a:r>
            <a:r>
              <a:rPr lang="en-IN" dirty="0"/>
              <a:t>: 10.1145/3301293.3309558.</a:t>
            </a:r>
          </a:p>
          <a:p>
            <a:endParaRPr lang="en-IN" dirty="0"/>
          </a:p>
          <a:p>
            <a:r>
              <a:rPr lang="en-IN" dirty="0"/>
              <a:t>[3] K. S. Abhishek, P. Kumar, A. Sharma, and P. Kumar, "Remote Based Patient Monitoring System Using Wearable Sensors Through Online and Offline Mode for Android Based Mobile Platforms," </a:t>
            </a:r>
            <a:r>
              <a:rPr lang="en-IN" i="1" dirty="0"/>
              <a:t>Proc. 2017 Int. Conf. Computer, Communications and Electronics (</a:t>
            </a:r>
            <a:r>
              <a:rPr lang="en-IN" i="1" dirty="0" err="1"/>
              <a:t>Comptelix</a:t>
            </a:r>
            <a:r>
              <a:rPr lang="en-IN" i="1" dirty="0"/>
              <a:t>)</a:t>
            </a:r>
            <a:r>
              <a:rPr lang="en-IN" dirty="0"/>
              <a:t>, Jaipur, India, Jul. 2017, pp. 227-231, </a:t>
            </a:r>
            <a:r>
              <a:rPr lang="en-IN" dirty="0" err="1"/>
              <a:t>doi</a:t>
            </a:r>
            <a:r>
              <a:rPr lang="en-IN" dirty="0"/>
              <a:t>: 10.1109/COMPTELIX.2017.8003982.</a:t>
            </a:r>
          </a:p>
          <a:p>
            <a:endParaRPr lang="en-IN" dirty="0"/>
          </a:p>
          <a:p>
            <a:r>
              <a:rPr lang="en-IN" dirty="0"/>
              <a:t>[4] S. M. R. Islam, D. Kwak, M. H. Kabir, M. Hossain, and K. S. Kwak, "The Internet of Things for Healthcare: A Comprehensive Survey," </a:t>
            </a:r>
            <a:r>
              <a:rPr lang="en-IN" i="1" dirty="0"/>
              <a:t>IEEE Access</a:t>
            </a:r>
            <a:r>
              <a:rPr lang="en-IN" dirty="0"/>
              <a:t>, vol. 3, pp. 678-708, 2015, </a:t>
            </a:r>
            <a:r>
              <a:rPr lang="en-IN" dirty="0" err="1"/>
              <a:t>doi</a:t>
            </a:r>
            <a:r>
              <a:rPr lang="en-IN" dirty="0"/>
              <a:t>: 10.1109/ACCESS.2015.2437951.</a:t>
            </a:r>
          </a:p>
          <a:p>
            <a:endParaRPr lang="en-IN" dirty="0"/>
          </a:p>
          <a:p>
            <a:r>
              <a:rPr lang="en-IN" dirty="0"/>
              <a:t>[5] H. </a:t>
            </a:r>
            <a:r>
              <a:rPr lang="en-IN" dirty="0" err="1"/>
              <a:t>Maneshti</a:t>
            </a:r>
            <a:r>
              <a:rPr lang="en-IN" dirty="0"/>
              <a:t>, M. Dadashi, and K. Rostami, "IoT-Enabled Low-Cost Fog Computing System with Online Machine Learning for Accurate and Low-Latency Heart Monitoring in Rural Healthcare Settings," </a:t>
            </a:r>
            <a:r>
              <a:rPr lang="en-IN" i="1" dirty="0"/>
              <a:t>Proc. 2023 4th Int. Conf. Electrical, Communication and Computer Engineering (ICECCE)</a:t>
            </a:r>
            <a:r>
              <a:rPr lang="en-IN" dirty="0"/>
              <a:t>, Kuala Lumpur, Malaysia, Jun. 2023, pp. 1-6, </a:t>
            </a:r>
            <a:r>
              <a:rPr lang="en-IN" dirty="0" err="1"/>
              <a:t>doi</a:t>
            </a:r>
            <a:r>
              <a:rPr lang="en-IN" dirty="0"/>
              <a:t>: 10.1109/ICECCE57971.2023.10159458.</a:t>
            </a:r>
          </a:p>
          <a:p>
            <a:pPr marL="152400" indent="0">
              <a:spcBef>
                <a:spcPts val="0"/>
              </a:spcBef>
              <a:buNone/>
            </a:pPr>
            <a:endParaRPr lang="en-US" sz="2000"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20454-31AD-852B-7747-F3CFA060EA9F}"/>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3" name="Text Placeholder 2">
            <a:extLst>
              <a:ext uri="{FF2B5EF4-FFF2-40B4-BE49-F238E27FC236}">
                <a16:creationId xmlns:a16="http://schemas.microsoft.com/office/drawing/2014/main" id="{CD0364CB-F766-D87D-CF06-9C2F48E3760D}"/>
              </a:ext>
            </a:extLst>
          </p:cNvPr>
          <p:cNvSpPr>
            <a:spLocks noGrp="1"/>
          </p:cNvSpPr>
          <p:nvPr>
            <p:ph type="body" idx="1"/>
          </p:nvPr>
        </p:nvSpPr>
        <p:spPr/>
        <p:txBody>
          <a:bodyPr>
            <a:normAutofit fontScale="62500" lnSpcReduction="20000"/>
          </a:bodyPr>
          <a:lstStyle/>
          <a:p>
            <a:r>
              <a:rPr lang="en-IN" dirty="0"/>
              <a:t>[6] S. Agarwal, L. LeFevre, and S. Lee, "Mobile Health (mHealth) Interventions in Low-Resource Settings: A Systematic Review," </a:t>
            </a:r>
            <a:r>
              <a:rPr lang="en-IN" i="1" dirty="0"/>
              <a:t>BMC Public Health</a:t>
            </a:r>
            <a:r>
              <a:rPr lang="en-IN" dirty="0"/>
              <a:t>, vol. 19, no. 1, pp. 1-15, 2019. [Online]. Available: </a:t>
            </a:r>
            <a:r>
              <a:rPr lang="en-IN" dirty="0">
                <a:hlinkClick r:id="rId2"/>
              </a:rPr>
              <a:t>https://bmcpublichealth.biomedcentral.com/articles/10.1186/s12889-019-7890-7</a:t>
            </a:r>
            <a:endParaRPr lang="en-IN" dirty="0"/>
          </a:p>
          <a:p>
            <a:endParaRPr lang="en-IN" dirty="0"/>
          </a:p>
          <a:p>
            <a:r>
              <a:rPr lang="en-IN" dirty="0"/>
              <a:t>[7] D. Boulos and N. Yang, "mHealth for Aging Populations: A Review," </a:t>
            </a:r>
            <a:r>
              <a:rPr lang="en-IN" i="1" dirty="0"/>
              <a:t>JMIR mHealth and </a:t>
            </a:r>
            <a:r>
              <a:rPr lang="en-IN" i="1" dirty="0" err="1"/>
              <a:t>uHealth</a:t>
            </a:r>
            <a:r>
              <a:rPr lang="en-IN" dirty="0"/>
              <a:t>, vol. 3, no. 1, pp. e1, 2015. [Online]. Available: </a:t>
            </a:r>
            <a:r>
              <a:rPr lang="en-IN" dirty="0">
                <a:hlinkClick r:id="rId3"/>
              </a:rPr>
              <a:t>https://mhealth.jmir.org/2015/1/e1/</a:t>
            </a:r>
            <a:endParaRPr lang="en-IN" dirty="0"/>
          </a:p>
          <a:p>
            <a:endParaRPr lang="en-IN" dirty="0"/>
          </a:p>
          <a:p>
            <a:r>
              <a:rPr lang="en-IN" dirty="0"/>
              <a:t>[8] D. Aranda-Jan, N. </a:t>
            </a:r>
            <a:r>
              <a:rPr lang="en-IN" dirty="0" err="1"/>
              <a:t>Mohutsiwa</a:t>
            </a:r>
            <a:r>
              <a:rPr lang="en-IN" dirty="0"/>
              <a:t>-Dibe, and S. </a:t>
            </a:r>
            <a:r>
              <a:rPr lang="en-IN" dirty="0" err="1"/>
              <a:t>Loukanova</a:t>
            </a:r>
            <a:r>
              <a:rPr lang="en-IN" dirty="0"/>
              <a:t>, "Systematic Review on mHealth Interventions for Chronic Disease Management in Developing Countries," </a:t>
            </a:r>
            <a:r>
              <a:rPr lang="en-IN" i="1" dirty="0"/>
              <a:t>JMIR mHealth and </a:t>
            </a:r>
            <a:r>
              <a:rPr lang="en-IN" i="1" dirty="0" err="1"/>
              <a:t>uHealth</a:t>
            </a:r>
            <a:r>
              <a:rPr lang="en-IN" dirty="0"/>
              <a:t>, vol. 2, no. 1, pp. e25, 2014. [Online]. Available: </a:t>
            </a:r>
            <a:r>
              <a:rPr lang="en-IN" dirty="0">
                <a:hlinkClick r:id="rId4"/>
              </a:rPr>
              <a:t>https://mhealth.jmir.org/2017/2/e25/</a:t>
            </a:r>
            <a:endParaRPr lang="en-IN" dirty="0"/>
          </a:p>
          <a:p>
            <a:endParaRPr lang="en-IN" dirty="0"/>
          </a:p>
          <a:p>
            <a:r>
              <a:rPr lang="en-IN" dirty="0"/>
              <a:t>[9] A. J. Hall, S. R. Smith, and L. S. Baker, "Digital Health for Rural Communities: Opportunities and Challenges," </a:t>
            </a:r>
            <a:r>
              <a:rPr lang="en-IN" i="1" dirty="0"/>
              <a:t>Frontiers in Public Health</a:t>
            </a:r>
            <a:r>
              <a:rPr lang="en-IN" dirty="0"/>
              <a:t>, vol. 8, pp. 598235, 2020. [Online]. Available: </a:t>
            </a:r>
            <a:r>
              <a:rPr lang="en-IN" dirty="0">
                <a:hlinkClick r:id="rId5"/>
              </a:rPr>
              <a:t>https://www.frontiersin.org/articles/10.3389/fpubh.2020.598235/full</a:t>
            </a:r>
            <a:endParaRPr lang="en-IN" dirty="0"/>
          </a:p>
          <a:p>
            <a:endParaRPr lang="en-IN" dirty="0"/>
          </a:p>
          <a:p>
            <a:r>
              <a:rPr lang="en-IN" dirty="0"/>
              <a:t>[10] P. Marasinghe, "Assistive Technologies in mHealth for Elderly Care: A Review," </a:t>
            </a:r>
            <a:r>
              <a:rPr lang="en-IN" i="1" dirty="0"/>
              <a:t>Healthcare (MDPI)</a:t>
            </a:r>
            <a:r>
              <a:rPr lang="en-IN" dirty="0"/>
              <a:t>, vol. 8, no. 3, pp. 257, 2020. [Online]. Available: </a:t>
            </a:r>
            <a:r>
              <a:rPr lang="en-IN" dirty="0">
                <a:hlinkClick r:id="rId6"/>
              </a:rPr>
              <a:t>https://www.mdpi.com/2227-9032/8/3/257</a:t>
            </a:r>
            <a:endParaRPr lang="en-IN" dirty="0"/>
          </a:p>
          <a:p>
            <a:endParaRPr lang="en-IN" dirty="0"/>
          </a:p>
          <a:p>
            <a:endParaRPr lang="en-IN" dirty="0"/>
          </a:p>
        </p:txBody>
      </p:sp>
    </p:spTree>
    <p:extLst>
      <p:ext uri="{BB962C8B-B14F-4D97-AF65-F5344CB8AC3E}">
        <p14:creationId xmlns:p14="http://schemas.microsoft.com/office/powerpoint/2010/main" val="3718450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484</TotalTime>
  <Words>2261</Words>
  <Application>Microsoft Office PowerPoint</Application>
  <PresentationFormat>Widescreen</PresentationFormat>
  <Paragraphs>268</Paragraphs>
  <Slides>19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Cambria</vt:lpstr>
      <vt:lpstr>Verdana</vt:lpstr>
      <vt:lpstr>Wingdings</vt:lpstr>
      <vt:lpstr>Bioinformatics</vt:lpstr>
      <vt:lpstr>HEALTHVAULT</vt:lpstr>
      <vt:lpstr>Content</vt:lpstr>
      <vt:lpstr>Problem Statement Number: PSCS_486</vt:lpstr>
      <vt:lpstr>Objectives</vt:lpstr>
      <vt:lpstr>Background and Related Work for Title Selection </vt:lpstr>
      <vt:lpstr>Analysis of Problem Statement</vt:lpstr>
      <vt:lpstr>Innovation or Novel Contributions </vt:lpstr>
      <vt:lpstr>Literature Survey</vt:lpstr>
      <vt:lpstr>Literature Survey</vt:lpstr>
      <vt:lpstr>Links</vt:lpstr>
      <vt:lpstr>Existing Methods &amp; Drawbacks</vt:lpstr>
      <vt:lpstr>Proposed Method &amp; Feasibility Study </vt:lpstr>
      <vt:lpstr>Modules</vt:lpstr>
      <vt:lpstr>Hardware &amp; Software Details </vt:lpstr>
      <vt:lpstr>Architecture Diagram</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MANOHARA S</cp:lastModifiedBy>
  <cp:revision>43</cp:revision>
  <dcterms:modified xsi:type="dcterms:W3CDTF">2025-09-10T03:00:19Z</dcterms:modified>
</cp:coreProperties>
</file>